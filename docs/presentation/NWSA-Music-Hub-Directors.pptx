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 by name. One sentence: why it exists, how you use it, why it is less work.
Promise three question breaks - and mean it.
FILL IN: names of the Dean and the three directors.
Say "New World School of the Arts" in full at least once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 How - Why faster.
Telling them when you will be done lets them relax and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fact had to be entered more than once.
Attendance was worst: Notion was fine on a laptop, impossible on a phone in front of an ensemble - so roll went on paper and got typed later, or never.
FILL IN - YOUR OWN 30-SECOND STORY GOES HERE. First person. Specific. The evening of texts, the parent who drove for a cancelled rehearsal, the stack of paper roll sheets.
This is the only emotional beat in the talk. Do not skip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site: no login, no app, anyone. Director Panel: Google sign-in, invited.
Same data, different door. No export step between them.
If the panel is on screen, point at the dark band: "Director Panel - editing area - the student side shows what you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sentence from today, this is it. Say it twice, slowly.
Cancel a rehearsal -&gt; red banner + every student schedule + subscribed phone calendars.
One action, no chasing.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 Home page - point at where the red change strip appears. No strip = normal day, and that is the point.
Then My Schedule -&gt; look up a real student by name. The site remembers them on that device. Parent mode holds several kids.
Line: "no account, no password to reset."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B. Read one REAL card off your own screen rather than this illustration.
Time, room, "N expected", and the roll receipt: "not taken yet" or "taken 2:14 - 3 absent".
Below: today's changes, lessons pulling students out, unexcused-absence reminder.
Filter to one ensemble - it remembers your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C - ON YOUR PHONE. Do the taps, do not describe them.
Absent -&gt; Late -&gt; Lesson (time window + REQUIRED reason) -&gt; point at the count chips (they filter) -&gt; Finish roll - summary -&gt; call / email / copy.
Land it: "that was three taps, because three people were out."
Quiet extras: minutes-late recorded, last-5-rehearsal dots, parent-reported absences waiting on the row, section-gap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Elsewhere work scales with roster size. Here it scales with absences.
VERIFY: use your real roster number if it is on screen, otherwise say "about eighty".
SAY OUT LOUD that you have not timed it. No minutes claims anywhere today.
Finished in the room = finished. No evening typing up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Receipt (when + who). Pattern (five dots). Follow-up queue (Excuse / Contacted / Dismiss). Export to spreadsheet.
PAUSE 1 - two minutes. "Questions on roll before I move on?"
If silence: name one person, ask one specific question, count to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Schedule Change: swap two blocks, shift a time, move a room, cancel.
Automatic: tagged as changed + red public banner + offer to post a notice.
Revert to normal restores the pre-change snapshot and pulls the notice down.
Close a day = one button cancels everything on a date and posts one notice.
VERIFY the local phrasing for a school closure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Temporary roster change: add or pull, one event or a date range, reason required.
Permanent roster untouched; the change expires itself.
While active it is real: Sub badge on roll, appears on Who's Out, shows on the student's public schedule.
One entry can move a student out of one ensemble and into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Per-ensemble or school-wide. Normal / Important / Urgent (site-wide banner).
Pin, expiry date, schedule for later, and a Spanish field you write yourself (not machine translation).
TEAMS / EMAIL - SAY THE HONEST VERSION. Unless you have watched one arrive: "the app queues it; that last hop is set up outside the app and I will not promise it until I have tested it. Today, treat the banner as the delivery."
Rule: announcements are public. Nothing private in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D - show a real printed program.
Point at the masthead: New World School of the Arts. Say we got that wrong on a printed program once and it will not happen again.
You did not write the program - it was assembled from what you already entered, in your order, with movements and total runtime.
Same entry gives a student a "My part" button matched to their instrument - theirs, not all thirty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each. Do not linger.
Documents (syllabus / handbook / forms, per ensemble or school-wide).
Assignments and exams (due dates on student schedules, Google Form for playing exams).
Seating (seat 1 = principal, published to students; chair-view roll on rehearsal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printed QR page.
Wall posters, "find my schedule" poster, per-ensemble posters, cut-apart folder slips.
VERIFY the short addresses by reading them off the QR kit page.
PAUSE 2 - two minutes. "Is there something your ensemble does that you did not see?" Go around by name. Write answers down where they can see you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DEAN'S SLIDE. Be precise rather than reassuring.
Enforced by the database, not by hidden pages.
Staff only: contacts, attendance, progress notes, private lessons.
Public on purpose: schedules, concerts, repertoire, announcements - AND student names, instrument, grade, ensemble.
Say the trade out loud: names are public BECAUSE lookup-without-an-account requires it. Reversible; the cost is student accounts. Their call.
Announcements are public by design - nothing private in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(one; adds/removes people) - Director (everything but that list) - Teacher (own students' lessons only) - Personnel Assistant (roll only, assigned ensembles).
The Personnel Assistant is the surprise win - offer it out loud: "give me a name and I will set it up."
Access changes take effect immediately. Somebody leaves, they are off in ten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license, no subscription; free hosting tiers AS CONFIGURED TODAY. Not "free forever".
No server, nothing to hand-back-up; rebuilds and refreshes calendar feeds on a schedule.
Installs to a home screen; opens with a bad connection.
If you have not tested a save in a dead-zone room, say: "it opens offline; saving needs a signal, and it tells you when a save did not go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ONLY THREE ROWS. Pick the three that matter to this room.
The argument in one line: every fact gets entered once, by the person who knows it, and stops being re-asked.
Then the honest caveat: this does not delete the work, it moves it to the front. Term setup is real. The payoff is ten months of not re-entering.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Sign in and look. CHECK THE DIRECTORS LIST FIRST so "not authorized" is not a surprise in the room.
2. Take roll once, for real.
3. Check your month on the calendar and tell me what is wrong.
4. Name anyone who should take roll for you.
FILL IN and say a check-back date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in the app menu (answers link straight to the screen; it prints).
Glossary at the bottom of that page.
Then email you - FILL IN the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open items aloud before taking questions - edit the list to match what is true on the day.
No measured time savings. Teams/email relay unverified. Student names public by design. Maintenance is you.
Add anything you promised to find out during the talk.
Then: "What did I miss, and what is going to break?" - and STOP TALKING. Let the silence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72E"/>
        </a:solidFill>
      </p:bgPr>
    </p:bg>
    <p:spTree>
      <p:nvGrpSpPr>
        <p:cNvPr id="1" name=""/>
        <p:cNvGrpSpPr/>
        <p:nvPr/>
      </p:nvGrpSpPr>
      <p:grpSpPr>
        <a:xfrm>
          <a:off x="0" y="0"/>
          <a:ext cx="0" cy="0"/>
          <a:chOff x="0" y="0"/>
          <a:chExt cx="0" cy="0"/>
        </a:xfrm>
      </p:grpSpPr>
      <p:sp>
        <p:nvSpPr>
          <p:cNvPr id="2" name="Shape 0"/>
          <p:cNvSpPr/>
          <p:nvPr/>
        </p:nvSpPr>
        <p:spPr>
          <a:xfrm>
            <a:off x="640080" y="1371600"/>
            <a:ext cx="1371600" cy="1828800"/>
          </a:xfrm>
          <a:prstGeom prst="roundRect">
            <a:avLst>
              <a:gd name="adj" fmla="val 5333"/>
            </a:avLst>
          </a:prstGeom>
          <a:solidFill>
            <a:srgbClr val="FFFFFF"/>
          </a:solidFill>
          <a:ln/>
        </p:spPr>
      </p:sp>
      <p:pic>
        <p:nvPicPr>
          <p:cNvPr id="3" name="Image 0" descr="/home/user/nwsa-music-hub/public/nwsa-logo.png">    </p:cNvPr>
          <p:cNvPicPr>
            <a:picLocks noChangeAspect="1"/>
          </p:cNvPicPr>
          <p:nvPr/>
        </p:nvPicPr>
        <p:blipFill>
          <a:blip r:embed="rId1"/>
          <a:stretch>
            <a:fillRect/>
          </a:stretch>
        </p:blipFill>
        <p:spPr>
          <a:xfrm>
            <a:off x="960120" y="1554480"/>
            <a:ext cx="731520" cy="1463040"/>
          </a:xfrm>
          <a:prstGeom prst="rect">
            <a:avLst/>
          </a:prstGeom>
        </p:spPr>
      </p:pic>
      <p:sp>
        <p:nvSpPr>
          <p:cNvPr id="4" name="Text 1"/>
          <p:cNvSpPr/>
          <p:nvPr/>
        </p:nvSpPr>
        <p:spPr>
          <a:xfrm>
            <a:off x="2377440" y="1481328"/>
            <a:ext cx="87782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NWSA Music Hub</a:t>
            </a:r>
            <a:endParaRPr lang="en-US" sz="5400" dirty="0"/>
          </a:p>
        </p:txBody>
      </p:sp>
      <p:sp>
        <p:nvSpPr>
          <p:cNvPr id="5" name="Text 2"/>
          <p:cNvSpPr/>
          <p:nvPr/>
        </p:nvSpPr>
        <p:spPr>
          <a:xfrm>
            <a:off x="2377440" y="2450592"/>
            <a:ext cx="8778240" cy="411480"/>
          </a:xfrm>
          <a:prstGeom prst="rect">
            <a:avLst/>
          </a:prstGeom>
          <a:noFill/>
          <a:ln/>
        </p:spPr>
        <p:txBody>
          <a:bodyPr wrap="square" lIns="0" tIns="0" rIns="0" bIns="0" rtlCol="0" anchor="ctr"/>
          <a:lstStyle/>
          <a:p>
            <a:pPr indent="0" marL="0">
              <a:buNone/>
            </a:pPr>
            <a:r>
              <a:rPr lang="en-US" sz="2100" dirty="0">
                <a:solidFill>
                  <a:srgbClr val="9FD2DA"/>
                </a:solidFill>
                <a:latin typeface="Calibri" pitchFamily="34" charset="0"/>
                <a:ea typeface="Calibri" pitchFamily="34" charset="-122"/>
                <a:cs typeface="Calibri" pitchFamily="34" charset="-120"/>
              </a:rPr>
              <a:t>Why it exists · How you’ll use it · Why it’s less work</a:t>
            </a:r>
            <a:endParaRPr lang="en-US" sz="2100" dirty="0"/>
          </a:p>
        </p:txBody>
      </p:sp>
      <p:sp>
        <p:nvSpPr>
          <p:cNvPr id="6" name="Text 3"/>
          <p:cNvSpPr/>
          <p:nvPr/>
        </p:nvSpPr>
        <p:spPr>
          <a:xfrm>
            <a:off x="2377440" y="3017520"/>
            <a:ext cx="8778240" cy="320040"/>
          </a:xfrm>
          <a:prstGeom prst="rect">
            <a:avLst/>
          </a:prstGeom>
          <a:noFill/>
          <a:ln/>
        </p:spPr>
        <p:txBody>
          <a:bodyPr wrap="square" lIns="0" tIns="0" rIns="0" bIns="0" rtlCol="0" anchor="ctr"/>
          <a:lstStyle/>
          <a:p>
            <a:pPr indent="0" marL="0">
              <a:buNone/>
            </a:pPr>
            <a:r>
              <a:rPr lang="en-US" sz="1500" dirty="0">
                <a:solidFill>
                  <a:srgbClr val="7FA6AE"/>
                </a:solidFill>
                <a:latin typeface="Calibri" pitchFamily="34" charset="0"/>
                <a:ea typeface="Calibri" pitchFamily="34" charset="-122"/>
                <a:cs typeface="Calibri" pitchFamily="34" charset="-120"/>
              </a:rPr>
              <a:t>New World School of the Arts — Music Division</a:t>
            </a:r>
            <a:endParaRPr lang="en-US" sz="1500" dirty="0"/>
          </a:p>
        </p:txBody>
      </p:sp>
      <p:sp>
        <p:nvSpPr>
          <p:cNvPr id="7" name="Text 4"/>
          <p:cNvSpPr/>
          <p:nvPr/>
        </p:nvSpPr>
        <p:spPr>
          <a:xfrm>
            <a:off x="640080" y="4160520"/>
            <a:ext cx="10911535" cy="365760"/>
          </a:xfrm>
          <a:prstGeom prst="rect">
            <a:avLst/>
          </a:prstGeom>
          <a:noFill/>
          <a:ln/>
        </p:spPr>
        <p:txBody>
          <a:bodyPr wrap="square" lIns="0" tIns="0" rIns="0" bIns="0" rtlCol="0" anchor="ctr"/>
          <a:lstStyle/>
          <a:p>
            <a:pPr indent="0" marL="0">
              <a:buNone/>
            </a:pPr>
            <a:r>
              <a:rPr lang="en-US" sz="1500" dirty="0">
                <a:solidFill>
                  <a:srgbClr val="B9D8DD"/>
                </a:solidFill>
                <a:latin typeface="Calibri" pitchFamily="34" charset="0"/>
                <a:ea typeface="Calibri" pitchFamily="34" charset="-122"/>
                <a:cs typeface="Calibri" pitchFamily="34" charset="-120"/>
              </a:rPr>
              <a:t>For the Dean, and the directors of Wind Ensemble, Jazz Ensemble and High School Choir</a:t>
            </a:r>
            <a:endParaRPr lang="en-US" sz="1500" dirty="0"/>
          </a:p>
        </p:txBody>
      </p:sp>
      <p:sp>
        <p:nvSpPr>
          <p:cNvPr id="8" name="Text 5"/>
          <p:cNvSpPr/>
          <p:nvPr/>
        </p:nvSpPr>
        <p:spPr>
          <a:xfrm>
            <a:off x="640080" y="4572000"/>
            <a:ext cx="10911535" cy="365760"/>
          </a:xfrm>
          <a:prstGeom prst="rect">
            <a:avLst/>
          </a:prstGeom>
          <a:noFill/>
          <a:ln/>
        </p:spPr>
        <p:txBody>
          <a:bodyPr wrap="square" lIns="0" tIns="0" rIns="0" bIns="0" rtlCol="0" anchor="ctr"/>
          <a:lstStyle/>
          <a:p>
            <a:pPr indent="0" marL="0">
              <a:buNone/>
            </a:pPr>
            <a:r>
              <a:rPr lang="en-US" sz="1500" i="1" dirty="0">
                <a:solidFill>
                  <a:srgbClr val="B8862B"/>
                </a:solidFill>
                <a:latin typeface="Calibri" pitchFamily="34" charset="0"/>
                <a:ea typeface="Calibri" pitchFamily="34" charset="-122"/>
                <a:cs typeface="Calibri" pitchFamily="34" charset="-120"/>
              </a:rPr>
              <a:t>Three stops for questions — please use them.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WHAT THIS MEETING IS</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Three things, then you decide</a:t>
            </a:r>
            <a:endParaRPr lang="en-US" sz="3600" dirty="0"/>
          </a:p>
        </p:txBody>
      </p:sp>
      <p:sp>
        <p:nvSpPr>
          <p:cNvPr id="4" name="Shape 2"/>
          <p:cNvSpPr/>
          <p:nvPr/>
        </p:nvSpPr>
        <p:spPr>
          <a:xfrm>
            <a:off x="640080" y="1874520"/>
            <a:ext cx="3520440" cy="2514600"/>
          </a:xfrm>
          <a:prstGeom prst="roundRect">
            <a:avLst>
              <a:gd name="adj" fmla="val 3273"/>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Shape 3"/>
          <p:cNvSpPr/>
          <p:nvPr/>
        </p:nvSpPr>
        <p:spPr>
          <a:xfrm>
            <a:off x="960120" y="2148840"/>
            <a:ext cx="502920" cy="502920"/>
          </a:xfrm>
          <a:prstGeom prst="ellipse">
            <a:avLst/>
          </a:prstGeom>
          <a:solidFill>
            <a:srgbClr val="0D7E8E"/>
          </a:solidFill>
          <a:ln/>
        </p:spPr>
      </p:sp>
      <p:sp>
        <p:nvSpPr>
          <p:cNvPr id="6" name="Text 4"/>
          <p:cNvSpPr/>
          <p:nvPr/>
        </p:nvSpPr>
        <p:spPr>
          <a:xfrm>
            <a:off x="960120" y="2148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960120" y="2788920"/>
            <a:ext cx="2880360" cy="365760"/>
          </a:xfrm>
          <a:prstGeom prst="rect">
            <a:avLst/>
          </a:prstGeom>
          <a:noFill/>
          <a:ln/>
        </p:spPr>
        <p:txBody>
          <a:bodyPr wrap="square" lIns="0" tIns="0" rIns="0" bIns="0" rtlCol="0" anchor="ctr"/>
          <a:lstStyle/>
          <a:p>
            <a:pPr indent="0" marL="0">
              <a:buNone/>
            </a:pPr>
            <a:r>
              <a:rPr lang="en-US" sz="2000" b="1" dirty="0">
                <a:solidFill>
                  <a:srgbClr val="17272B"/>
                </a:solidFill>
                <a:latin typeface="Calibri" pitchFamily="34" charset="0"/>
                <a:ea typeface="Calibri" pitchFamily="34" charset="-122"/>
                <a:cs typeface="Calibri" pitchFamily="34" charset="-120"/>
              </a:rPr>
              <a:t>Why it exists</a:t>
            </a:r>
            <a:endParaRPr lang="en-US" sz="2000" dirty="0"/>
          </a:p>
        </p:txBody>
      </p:sp>
      <p:sp>
        <p:nvSpPr>
          <p:cNvPr id="8" name="Text 6"/>
          <p:cNvSpPr/>
          <p:nvPr/>
        </p:nvSpPr>
        <p:spPr>
          <a:xfrm>
            <a:off x="960120" y="3200400"/>
            <a:ext cx="2880360" cy="68580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The problem it removes — not a feature list.</a:t>
            </a:r>
            <a:endParaRPr lang="en-US" sz="1450" dirty="0"/>
          </a:p>
        </p:txBody>
      </p:sp>
      <p:sp>
        <p:nvSpPr>
          <p:cNvPr id="9" name="Shape 7"/>
          <p:cNvSpPr/>
          <p:nvPr/>
        </p:nvSpPr>
        <p:spPr>
          <a:xfrm>
            <a:off x="4544568" y="1874520"/>
            <a:ext cx="3520440" cy="2514600"/>
          </a:xfrm>
          <a:prstGeom prst="roundRect">
            <a:avLst>
              <a:gd name="adj" fmla="val 3273"/>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0" name="Shape 8"/>
          <p:cNvSpPr/>
          <p:nvPr/>
        </p:nvSpPr>
        <p:spPr>
          <a:xfrm>
            <a:off x="4864608" y="2148840"/>
            <a:ext cx="502920" cy="502920"/>
          </a:xfrm>
          <a:prstGeom prst="ellipse">
            <a:avLst/>
          </a:prstGeom>
          <a:solidFill>
            <a:srgbClr val="0D7E8E"/>
          </a:solidFill>
          <a:ln/>
        </p:spPr>
      </p:sp>
      <p:sp>
        <p:nvSpPr>
          <p:cNvPr id="11" name="Text 9"/>
          <p:cNvSpPr/>
          <p:nvPr/>
        </p:nvSpPr>
        <p:spPr>
          <a:xfrm>
            <a:off x="4864608" y="2148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4864608" y="2788920"/>
            <a:ext cx="2880360" cy="365760"/>
          </a:xfrm>
          <a:prstGeom prst="rect">
            <a:avLst/>
          </a:prstGeom>
          <a:noFill/>
          <a:ln/>
        </p:spPr>
        <p:txBody>
          <a:bodyPr wrap="square" lIns="0" tIns="0" rIns="0" bIns="0" rtlCol="0" anchor="ctr"/>
          <a:lstStyle/>
          <a:p>
            <a:pPr indent="0" marL="0">
              <a:buNone/>
            </a:pPr>
            <a:r>
              <a:rPr lang="en-US" sz="2000" b="1" dirty="0">
                <a:solidFill>
                  <a:srgbClr val="17272B"/>
                </a:solidFill>
                <a:latin typeface="Calibri" pitchFamily="34" charset="0"/>
                <a:ea typeface="Calibri" pitchFamily="34" charset="-122"/>
                <a:cs typeface="Calibri" pitchFamily="34" charset="-120"/>
              </a:rPr>
              <a:t>How you use it</a:t>
            </a:r>
            <a:endParaRPr lang="en-US" sz="2000" dirty="0"/>
          </a:p>
        </p:txBody>
      </p:sp>
      <p:sp>
        <p:nvSpPr>
          <p:cNvPr id="13" name="Text 11"/>
          <p:cNvSpPr/>
          <p:nvPr/>
        </p:nvSpPr>
        <p:spPr>
          <a:xfrm>
            <a:off x="4864608" y="3200400"/>
            <a:ext cx="2880360" cy="68580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Your ensemble, shown live on a phone.</a:t>
            </a:r>
            <a:endParaRPr lang="en-US" sz="1450" dirty="0"/>
          </a:p>
        </p:txBody>
      </p:sp>
      <p:sp>
        <p:nvSpPr>
          <p:cNvPr id="14" name="Shape 12"/>
          <p:cNvSpPr/>
          <p:nvPr/>
        </p:nvSpPr>
        <p:spPr>
          <a:xfrm>
            <a:off x="8449056" y="1874520"/>
            <a:ext cx="3520440" cy="2514600"/>
          </a:xfrm>
          <a:prstGeom prst="roundRect">
            <a:avLst>
              <a:gd name="adj" fmla="val 3273"/>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5" name="Shape 13"/>
          <p:cNvSpPr/>
          <p:nvPr/>
        </p:nvSpPr>
        <p:spPr>
          <a:xfrm>
            <a:off x="8769096" y="2148840"/>
            <a:ext cx="502920" cy="502920"/>
          </a:xfrm>
          <a:prstGeom prst="ellipse">
            <a:avLst/>
          </a:prstGeom>
          <a:solidFill>
            <a:srgbClr val="0D7E8E"/>
          </a:solidFill>
          <a:ln/>
        </p:spPr>
      </p:sp>
      <p:sp>
        <p:nvSpPr>
          <p:cNvPr id="16" name="Text 14"/>
          <p:cNvSpPr/>
          <p:nvPr/>
        </p:nvSpPr>
        <p:spPr>
          <a:xfrm>
            <a:off x="8769096" y="2148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8769096" y="2788920"/>
            <a:ext cx="2880360" cy="365760"/>
          </a:xfrm>
          <a:prstGeom prst="rect">
            <a:avLst/>
          </a:prstGeom>
          <a:noFill/>
          <a:ln/>
        </p:spPr>
        <p:txBody>
          <a:bodyPr wrap="square" lIns="0" tIns="0" rIns="0" bIns="0" rtlCol="0" anchor="ctr"/>
          <a:lstStyle/>
          <a:p>
            <a:pPr indent="0" marL="0">
              <a:buNone/>
            </a:pPr>
            <a:r>
              <a:rPr lang="en-US" sz="2000" b="1" dirty="0">
                <a:solidFill>
                  <a:srgbClr val="17272B"/>
                </a:solidFill>
                <a:latin typeface="Calibri" pitchFamily="34" charset="0"/>
                <a:ea typeface="Calibri" pitchFamily="34" charset="-122"/>
                <a:cs typeface="Calibri" pitchFamily="34" charset="-120"/>
              </a:rPr>
              <a:t>Why it’s faster</a:t>
            </a:r>
            <a:endParaRPr lang="en-US" sz="2000" dirty="0"/>
          </a:p>
        </p:txBody>
      </p:sp>
      <p:sp>
        <p:nvSpPr>
          <p:cNvPr id="18" name="Text 16"/>
          <p:cNvSpPr/>
          <p:nvPr/>
        </p:nvSpPr>
        <p:spPr>
          <a:xfrm>
            <a:off x="8769096" y="3200400"/>
            <a:ext cx="2880360" cy="68580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The structural reason, not a sales number.</a:t>
            </a:r>
            <a:endParaRPr lang="en-US" sz="1450" dirty="0"/>
          </a:p>
        </p:txBody>
      </p:sp>
      <p:sp>
        <p:nvSpPr>
          <p:cNvPr id="19" name="Text 17"/>
          <p:cNvSpPr/>
          <p:nvPr/>
        </p:nvSpPr>
        <p:spPr>
          <a:xfrm>
            <a:off x="640080" y="4983480"/>
            <a:ext cx="10911535" cy="365760"/>
          </a:xfrm>
          <a:prstGeom prst="rect">
            <a:avLst/>
          </a:prstGeom>
          <a:noFill/>
          <a:ln/>
        </p:spPr>
        <p:txBody>
          <a:bodyPr wrap="square" lIns="0" tIns="0" rIns="0" bIns="0" rtlCol="0" anchor="ctr"/>
          <a:lstStyle/>
          <a:p>
            <a:pPr indent="0" marL="0">
              <a:buNone/>
            </a:pPr>
            <a:r>
              <a:rPr lang="en-US" sz="1600" i="1" dirty="0">
                <a:solidFill>
                  <a:srgbClr val="0A5560"/>
                </a:solidFill>
                <a:latin typeface="Calibri" pitchFamily="34" charset="0"/>
                <a:ea typeface="Calibri" pitchFamily="34" charset="-122"/>
                <a:cs typeface="Calibri" pitchFamily="34" charset="-120"/>
              </a:rPr>
              <a:t>When those three are done, we’re done — and the rest is your questions.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The same fact, entered four times</a:t>
            </a:r>
            <a:endParaRPr lang="en-US" sz="3600" dirty="0"/>
          </a:p>
        </p:txBody>
      </p:sp>
      <p:sp>
        <p:nvSpPr>
          <p:cNvPr id="4" name="Text 2"/>
          <p:cNvSpPr/>
          <p:nvPr/>
        </p:nvSpPr>
        <p:spPr>
          <a:xfrm>
            <a:off x="640080" y="1783080"/>
            <a:ext cx="5120640" cy="1737360"/>
          </a:xfrm>
          <a:prstGeom prst="rect">
            <a:avLst/>
          </a:prstGeom>
          <a:noFill/>
          <a:ln/>
        </p:spPr>
        <p:txBody>
          <a:bodyPr wrap="square" lIns="0" tIns="0" rIns="0" bIns="0" rtlCol="0" anchor="ctr"/>
          <a:lstStyle/>
          <a:p>
            <a:pPr indent="0" marL="0">
              <a:lnSpc>
                <a:spcPts val="2800"/>
              </a:lnSpc>
              <a:buNone/>
            </a:pPr>
            <a:r>
              <a:rPr lang="en-US" sz="1750" dirty="0">
                <a:solidFill>
                  <a:srgbClr val="17272B"/>
                </a:solidFill>
                <a:latin typeface="Calibri" pitchFamily="34" charset="0"/>
                <a:ea typeface="Calibri" pitchFamily="34" charset="-122"/>
                <a:cs typeface="Calibri" pitchFamily="34" charset="-120"/>
              </a:rPr>
              <a:t>The problem was never that we were disorganized.</a:t>
            </a:r>
            <a:endParaRPr lang="en-US" sz="1750" dirty="0"/>
          </a:p>
          <a:p>
            <a:pPr indent="0" marL="0">
              <a:lnSpc>
                <a:spcPts val="2800"/>
              </a:lnSpc>
              <a:buNone/>
            </a:pPr>
            <a:endParaRPr lang="en-US" sz="1750" dirty="0"/>
          </a:p>
          <a:p>
            <a:pPr indent="0" marL="0">
              <a:lnSpc>
                <a:spcPts val="2800"/>
              </a:lnSpc>
              <a:buNone/>
            </a:pPr>
            <a:r>
              <a:rPr lang="en-US" sz="1750" dirty="0">
                <a:solidFill>
                  <a:srgbClr val="17272B"/>
                </a:solidFill>
                <a:latin typeface="Calibri" pitchFamily="34" charset="0"/>
                <a:ea typeface="Calibri" pitchFamily="34" charset="-122"/>
                <a:cs typeface="Calibri" pitchFamily="34" charset="-120"/>
              </a:rPr>
              <a:t>It was that every fact about this department had to be entered more than once — and the copies drifted apart.</a:t>
            </a:r>
            <a:endParaRPr lang="en-US" sz="1750" dirty="0"/>
          </a:p>
        </p:txBody>
      </p:sp>
      <p:sp>
        <p:nvSpPr>
          <p:cNvPr id="5" name="Shape 3"/>
          <p:cNvSpPr/>
          <p:nvPr/>
        </p:nvSpPr>
        <p:spPr>
          <a:xfrm>
            <a:off x="640080" y="3977640"/>
            <a:ext cx="5120640" cy="1737360"/>
          </a:xfrm>
          <a:prstGeom prst="roundRect">
            <a:avLst>
              <a:gd name="adj" fmla="val 4737"/>
            </a:avLst>
          </a:prstGeom>
          <a:solidFill>
            <a:srgbClr val="FBF4E3"/>
          </a:solidFill>
          <a:ln w="12700">
            <a:solidFill>
              <a:srgbClr val="E8D9B0"/>
            </a:solidFill>
            <a:prstDash val="solid"/>
          </a:ln>
          <a:effectLst>
            <a:outerShdw sx="100000" sy="100000" kx="0" ky="0" algn="bl" rotWithShape="0" blurRad="127000" dist="25400" dir="5400000">
              <a:srgbClr val="9FB3B7">
                <a:alpha val="28000"/>
              </a:srgbClr>
            </a:outerShdw>
          </a:effectLst>
        </p:spPr>
      </p:sp>
      <p:sp>
        <p:nvSpPr>
          <p:cNvPr id="6" name="Text 4"/>
          <p:cNvSpPr/>
          <p:nvPr/>
        </p:nvSpPr>
        <p:spPr>
          <a:xfrm>
            <a:off x="914400" y="4206240"/>
            <a:ext cx="4572000" cy="1371600"/>
          </a:xfrm>
          <a:prstGeom prst="rect">
            <a:avLst/>
          </a:prstGeom>
          <a:noFill/>
          <a:ln/>
        </p:spPr>
        <p:txBody>
          <a:bodyPr wrap="square" lIns="0" tIns="0" rIns="0" bIns="0" rtlCol="0" anchor="ctr"/>
          <a:lstStyle/>
          <a:p>
            <a:pPr indent="0" marL="0">
              <a:buNone/>
            </a:pPr>
            <a:r>
              <a:rPr lang="en-US" sz="1550" dirty="0">
                <a:solidFill>
                  <a:srgbClr val="5A4A22"/>
                </a:solidFill>
                <a:latin typeface="Calibri" pitchFamily="34" charset="0"/>
                <a:ea typeface="Calibri" pitchFamily="34" charset="-122"/>
                <a:cs typeface="Calibri" pitchFamily="34" charset="-120"/>
              </a:rPr>
              <a:t>Attendance was the worst of it. The old Notion workspace was fine on a laptop — and impossible on a phone in front of an ensemble. So roll went on paper, and got typed up later. Or never.</a:t>
            </a:r>
            <a:endParaRPr lang="en-US" sz="1550" dirty="0"/>
          </a:p>
        </p:txBody>
      </p:sp>
      <p:sp>
        <p:nvSpPr>
          <p:cNvPr id="7" name="Shape 5"/>
          <p:cNvSpPr/>
          <p:nvPr/>
        </p:nvSpPr>
        <p:spPr>
          <a:xfrm>
            <a:off x="6309360" y="1865376"/>
            <a:ext cx="384048" cy="384048"/>
          </a:xfrm>
          <a:prstGeom prst="ellipse">
            <a:avLst/>
          </a:prstGeom>
          <a:solidFill>
            <a:srgbClr val="0D7E8E"/>
          </a:solidFill>
          <a:ln/>
        </p:spPr>
      </p:sp>
      <p:sp>
        <p:nvSpPr>
          <p:cNvPr id="8" name="Text 6"/>
          <p:cNvSpPr/>
          <p:nvPr/>
        </p:nvSpPr>
        <p:spPr>
          <a:xfrm>
            <a:off x="6309360" y="18653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6876288" y="1828800"/>
            <a:ext cx="4675327"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The calendar</a:t>
            </a:r>
            <a:endParaRPr lang="en-US" sz="1700" dirty="0"/>
          </a:p>
        </p:txBody>
      </p:sp>
      <p:sp>
        <p:nvSpPr>
          <p:cNvPr id="10" name="Text 8"/>
          <p:cNvSpPr/>
          <p:nvPr/>
        </p:nvSpPr>
        <p:spPr>
          <a:xfrm>
            <a:off x="6876288" y="2157984"/>
            <a:ext cx="4675327" cy="457200"/>
          </a:xfrm>
          <a:prstGeom prst="rect">
            <a:avLst/>
          </a:prstGeom>
          <a:noFill/>
          <a:ln/>
        </p:spPr>
        <p:txBody>
          <a:bodyPr wrap="square" lIns="0" tIns="0" rIns="0" bIns="0" rtlCol="0" anchor="t"/>
          <a:lstStyle/>
          <a:p>
            <a:pPr indent="0" marL="0">
              <a:buNone/>
            </a:pPr>
            <a:r>
              <a:rPr lang="en-US" sz="1450" dirty="0">
                <a:solidFill>
                  <a:srgbClr val="5C6E73"/>
                </a:solidFill>
                <a:latin typeface="Calibri" pitchFamily="34" charset="0"/>
                <a:ea typeface="Calibri" pitchFamily="34" charset="-122"/>
                <a:cs typeface="Calibri" pitchFamily="34" charset="-120"/>
              </a:rPr>
              <a:t>changed by hand</a:t>
            </a:r>
            <a:endParaRPr lang="en-US" sz="1450" dirty="0"/>
          </a:p>
        </p:txBody>
      </p:sp>
      <p:sp>
        <p:nvSpPr>
          <p:cNvPr id="11" name="Shape 9"/>
          <p:cNvSpPr/>
          <p:nvPr/>
        </p:nvSpPr>
        <p:spPr>
          <a:xfrm>
            <a:off x="6309360" y="2825496"/>
            <a:ext cx="384048" cy="384048"/>
          </a:xfrm>
          <a:prstGeom prst="ellipse">
            <a:avLst/>
          </a:prstGeom>
          <a:solidFill>
            <a:srgbClr val="0D7E8E"/>
          </a:solidFill>
          <a:ln/>
        </p:spPr>
      </p:sp>
      <p:sp>
        <p:nvSpPr>
          <p:cNvPr id="12" name="Text 10"/>
          <p:cNvSpPr/>
          <p:nvPr/>
        </p:nvSpPr>
        <p:spPr>
          <a:xfrm>
            <a:off x="6309360" y="28254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6876288" y="2788920"/>
            <a:ext cx="4675327"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The parents</a:t>
            </a:r>
            <a:endParaRPr lang="en-US" sz="1700" dirty="0"/>
          </a:p>
        </p:txBody>
      </p:sp>
      <p:sp>
        <p:nvSpPr>
          <p:cNvPr id="14" name="Text 12"/>
          <p:cNvSpPr/>
          <p:nvPr/>
        </p:nvSpPr>
        <p:spPr>
          <a:xfrm>
            <a:off x="6876288" y="3118104"/>
            <a:ext cx="4675327" cy="457200"/>
          </a:xfrm>
          <a:prstGeom prst="rect">
            <a:avLst/>
          </a:prstGeom>
          <a:noFill/>
          <a:ln/>
        </p:spPr>
        <p:txBody>
          <a:bodyPr wrap="square" lIns="0" tIns="0" rIns="0" bIns="0" rtlCol="0" anchor="t"/>
          <a:lstStyle/>
          <a:p>
            <a:pPr indent="0" marL="0">
              <a:buNone/>
            </a:pPr>
            <a:r>
              <a:rPr lang="en-US" sz="1450" dirty="0">
                <a:solidFill>
                  <a:srgbClr val="5C6E73"/>
                </a:solidFill>
                <a:latin typeface="Calibri" pitchFamily="34" charset="0"/>
                <a:ea typeface="Calibri" pitchFamily="34" charset="-122"/>
                <a:cs typeface="Calibri" pitchFamily="34" charset="-120"/>
              </a:rPr>
              <a:t>told individually, all evening</a:t>
            </a:r>
            <a:endParaRPr lang="en-US" sz="1450" dirty="0"/>
          </a:p>
        </p:txBody>
      </p:sp>
      <p:sp>
        <p:nvSpPr>
          <p:cNvPr id="15" name="Shape 13"/>
          <p:cNvSpPr/>
          <p:nvPr/>
        </p:nvSpPr>
        <p:spPr>
          <a:xfrm>
            <a:off x="6309360" y="3785616"/>
            <a:ext cx="384048" cy="384048"/>
          </a:xfrm>
          <a:prstGeom prst="ellipse">
            <a:avLst/>
          </a:prstGeom>
          <a:solidFill>
            <a:srgbClr val="0D7E8E"/>
          </a:solidFill>
          <a:ln/>
        </p:spPr>
      </p:sp>
      <p:sp>
        <p:nvSpPr>
          <p:cNvPr id="16" name="Text 14"/>
          <p:cNvSpPr/>
          <p:nvPr/>
        </p:nvSpPr>
        <p:spPr>
          <a:xfrm>
            <a:off x="6309360" y="37856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6876288" y="3749040"/>
            <a:ext cx="4675327"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The wall</a:t>
            </a:r>
            <a:endParaRPr lang="en-US" sz="1700" dirty="0"/>
          </a:p>
        </p:txBody>
      </p:sp>
      <p:sp>
        <p:nvSpPr>
          <p:cNvPr id="18" name="Text 16"/>
          <p:cNvSpPr/>
          <p:nvPr/>
        </p:nvSpPr>
        <p:spPr>
          <a:xfrm>
            <a:off x="6876288" y="4078224"/>
            <a:ext cx="4675327" cy="457200"/>
          </a:xfrm>
          <a:prstGeom prst="rect">
            <a:avLst/>
          </a:prstGeom>
          <a:noFill/>
          <a:ln/>
        </p:spPr>
        <p:txBody>
          <a:bodyPr wrap="square" lIns="0" tIns="0" rIns="0" bIns="0" rtlCol="0" anchor="t"/>
          <a:lstStyle/>
          <a:p>
            <a:pPr indent="0" marL="0">
              <a:buNone/>
            </a:pPr>
            <a:r>
              <a:rPr lang="en-US" sz="1450" dirty="0">
                <a:solidFill>
                  <a:srgbClr val="5C6E73"/>
                </a:solidFill>
                <a:latin typeface="Calibri" pitchFamily="34" charset="0"/>
                <a:ea typeface="Calibri" pitchFamily="34" charset="-122"/>
                <a:cs typeface="Calibri" pitchFamily="34" charset="-120"/>
              </a:rPr>
              <a:t>still says the old time</a:t>
            </a:r>
            <a:endParaRPr lang="en-US" sz="1450" dirty="0"/>
          </a:p>
        </p:txBody>
      </p:sp>
      <p:sp>
        <p:nvSpPr>
          <p:cNvPr id="19" name="Shape 17"/>
          <p:cNvSpPr/>
          <p:nvPr/>
        </p:nvSpPr>
        <p:spPr>
          <a:xfrm>
            <a:off x="6309360" y="4745736"/>
            <a:ext cx="384048" cy="384048"/>
          </a:xfrm>
          <a:prstGeom prst="ellipse">
            <a:avLst/>
          </a:prstGeom>
          <a:solidFill>
            <a:srgbClr val="0D7E8E"/>
          </a:solidFill>
          <a:ln/>
        </p:spPr>
      </p:sp>
      <p:sp>
        <p:nvSpPr>
          <p:cNvPr id="20" name="Text 18"/>
          <p:cNvSpPr/>
          <p:nvPr/>
        </p:nvSpPr>
        <p:spPr>
          <a:xfrm>
            <a:off x="6309360" y="47457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6876288" y="4709160"/>
            <a:ext cx="4675327"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The students</a:t>
            </a:r>
            <a:endParaRPr lang="en-US" sz="1700" dirty="0"/>
          </a:p>
        </p:txBody>
      </p:sp>
      <p:sp>
        <p:nvSpPr>
          <p:cNvPr id="22" name="Text 20"/>
          <p:cNvSpPr/>
          <p:nvPr/>
        </p:nvSpPr>
        <p:spPr>
          <a:xfrm>
            <a:off x="6876288" y="5038344"/>
            <a:ext cx="4675327" cy="457200"/>
          </a:xfrm>
          <a:prstGeom prst="rect">
            <a:avLst/>
          </a:prstGeom>
          <a:noFill/>
          <a:ln/>
        </p:spPr>
        <p:txBody>
          <a:bodyPr wrap="square" lIns="0" tIns="0" rIns="0" bIns="0" rtlCol="0" anchor="t"/>
          <a:lstStyle/>
          <a:p>
            <a:pPr indent="0" marL="0">
              <a:buNone/>
            </a:pPr>
            <a:r>
              <a:rPr lang="en-US" sz="1450" dirty="0">
                <a:solidFill>
                  <a:srgbClr val="5C6E73"/>
                </a:solidFill>
                <a:latin typeface="Calibri" pitchFamily="34" charset="0"/>
                <a:ea typeface="Calibri" pitchFamily="34" charset="-122"/>
                <a:cs typeface="Calibri" pitchFamily="34" charset="-120"/>
              </a:rPr>
              <a:t>who weren’t in the room are simply wrong</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HOW IT’S BUILT</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One place. Two doors.</a:t>
            </a:r>
            <a:endParaRPr lang="en-US" sz="3600" dirty="0"/>
          </a:p>
        </p:txBody>
      </p:sp>
      <p:sp>
        <p:nvSpPr>
          <p:cNvPr id="4" name="Shape 2"/>
          <p:cNvSpPr/>
          <p:nvPr/>
        </p:nvSpPr>
        <p:spPr>
          <a:xfrm>
            <a:off x="640080" y="1783080"/>
            <a:ext cx="5394960" cy="3154680"/>
          </a:xfrm>
          <a:prstGeom prst="roundRect">
            <a:avLst>
              <a:gd name="adj" fmla="val 2609"/>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Text 3"/>
          <p:cNvSpPr/>
          <p:nvPr/>
        </p:nvSpPr>
        <p:spPr>
          <a:xfrm>
            <a:off x="1005840" y="2057400"/>
            <a:ext cx="4663440" cy="411480"/>
          </a:xfrm>
          <a:prstGeom prst="rect">
            <a:avLst/>
          </a:prstGeom>
          <a:noFill/>
          <a:ln/>
        </p:spPr>
        <p:txBody>
          <a:bodyPr wrap="square" lIns="0" tIns="0" rIns="0" bIns="0" rtlCol="0" anchor="ctr"/>
          <a:lstStyle/>
          <a:p>
            <a:pPr indent="0" marL="0">
              <a:buNone/>
            </a:pPr>
            <a:r>
              <a:rPr lang="en-US" sz="2400" b="1" dirty="0">
                <a:solidFill>
                  <a:srgbClr val="0D7E8E"/>
                </a:solidFill>
                <a:latin typeface="Cambria" pitchFamily="34" charset="0"/>
                <a:ea typeface="Cambria" pitchFamily="34" charset="-122"/>
                <a:cs typeface="Cambria" pitchFamily="34" charset="-120"/>
              </a:rPr>
              <a:t>The public site</a:t>
            </a:r>
            <a:endParaRPr lang="en-US" sz="2400" dirty="0"/>
          </a:p>
        </p:txBody>
      </p:sp>
      <p:sp>
        <p:nvSpPr>
          <p:cNvPr id="6" name="Text 4"/>
          <p:cNvSpPr/>
          <p:nvPr/>
        </p:nvSpPr>
        <p:spPr>
          <a:xfrm>
            <a:off x="1005840" y="2651760"/>
            <a:ext cx="4663440" cy="2148840"/>
          </a:xfrm>
          <a:prstGeom prst="rect">
            <a:avLst/>
          </a:prstGeom>
          <a:noFill/>
          <a:ln/>
        </p:spPr>
        <p:txBody>
          <a:bodyPr wrap="square" lIns="0" tIns="0" rIns="0" bIns="0" rtlCol="0" anchor="ctr"/>
          <a:lstStyle/>
          <a:p>
            <a:pPr marL="342900" indent="-342900">
              <a:spcAft>
                <a:spcPts val="1200"/>
              </a:spcAft>
              <a:buSzPct val="100000"/>
              <a:buChar char="•"/>
            </a:pPr>
            <a:r>
              <a:rPr lang="en-US" sz="1550" dirty="0">
                <a:solidFill>
                  <a:srgbClr val="17272B"/>
                </a:solidFill>
                <a:latin typeface="Calibri" pitchFamily="34" charset="0"/>
                <a:ea typeface="Calibri" pitchFamily="34" charset="-122"/>
                <a:cs typeface="Calibri" pitchFamily="34" charset="-120"/>
              </a:rPr>
              <a:t>Students, parents, anyone</a:t>
            </a:r>
            <a:endParaRPr lang="en-US" sz="1550" dirty="0"/>
          </a:p>
          <a:p>
            <a:pPr marL="342900" indent="-342900">
              <a:spcAft>
                <a:spcPts val="1200"/>
              </a:spcAft>
              <a:buSzPct val="100000"/>
              <a:buChar char="•"/>
            </a:pPr>
            <a:r>
              <a:rPr lang="en-US" sz="1550" dirty="0">
                <a:solidFill>
                  <a:srgbClr val="17272B"/>
                </a:solidFill>
                <a:latin typeface="Calibri" pitchFamily="34" charset="0"/>
                <a:ea typeface="Calibri" pitchFamily="34" charset="-122"/>
                <a:cs typeface="Calibri" pitchFamily="34" charset="-120"/>
              </a:rPr>
              <a:t>No login. No password. No app to install.</a:t>
            </a:r>
            <a:endParaRPr lang="en-US" sz="1550" dirty="0"/>
          </a:p>
          <a:p>
            <a:pPr marL="342900" indent="-342900">
              <a:spcAft>
                <a:spcPts val="1200"/>
              </a:spcAft>
              <a:buSzPct val="100000"/>
              <a:buChar char="•"/>
            </a:pPr>
            <a:r>
              <a:rPr lang="en-US" sz="1550" dirty="0">
                <a:solidFill>
                  <a:srgbClr val="17272B"/>
                </a:solidFill>
                <a:latin typeface="Calibri" pitchFamily="34" charset="0"/>
                <a:ea typeface="Calibri" pitchFamily="34" charset="-122"/>
                <a:cs typeface="Calibri" pitchFamily="34" charset="-120"/>
              </a:rPr>
              <a:t>Today’s schedule, calendar, concerts, their own schedule, their sheet music, announcements</a:t>
            </a:r>
            <a:endParaRPr lang="en-US" sz="1550" dirty="0"/>
          </a:p>
        </p:txBody>
      </p:sp>
      <p:sp>
        <p:nvSpPr>
          <p:cNvPr id="7" name="Shape 5"/>
          <p:cNvSpPr/>
          <p:nvPr/>
        </p:nvSpPr>
        <p:spPr>
          <a:xfrm>
            <a:off x="6156655" y="1783080"/>
            <a:ext cx="5394960" cy="3154680"/>
          </a:xfrm>
          <a:prstGeom prst="roundRect">
            <a:avLst>
              <a:gd name="adj" fmla="val 2609"/>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8" name="Text 6"/>
          <p:cNvSpPr/>
          <p:nvPr/>
        </p:nvSpPr>
        <p:spPr>
          <a:xfrm>
            <a:off x="6522415" y="2057400"/>
            <a:ext cx="4663440" cy="411480"/>
          </a:xfrm>
          <a:prstGeom prst="rect">
            <a:avLst/>
          </a:prstGeom>
          <a:noFill/>
          <a:ln/>
        </p:spPr>
        <p:txBody>
          <a:bodyPr wrap="square" lIns="0" tIns="0" rIns="0" bIns="0" rtlCol="0" anchor="ctr"/>
          <a:lstStyle/>
          <a:p>
            <a:pPr indent="0" marL="0">
              <a:buNone/>
            </a:pPr>
            <a:r>
              <a:rPr lang="en-US" sz="2400" b="1" dirty="0">
                <a:solidFill>
                  <a:srgbClr val="0A5560"/>
                </a:solidFill>
                <a:latin typeface="Cambria" pitchFamily="34" charset="0"/>
                <a:ea typeface="Cambria" pitchFamily="34" charset="-122"/>
                <a:cs typeface="Cambria" pitchFamily="34" charset="-120"/>
              </a:rPr>
              <a:t>The Director Panel</a:t>
            </a:r>
            <a:endParaRPr lang="en-US" sz="2400" dirty="0"/>
          </a:p>
        </p:txBody>
      </p:sp>
      <p:sp>
        <p:nvSpPr>
          <p:cNvPr id="9" name="Text 7"/>
          <p:cNvSpPr/>
          <p:nvPr/>
        </p:nvSpPr>
        <p:spPr>
          <a:xfrm>
            <a:off x="6522415" y="2651760"/>
            <a:ext cx="4663440" cy="2148840"/>
          </a:xfrm>
          <a:prstGeom prst="rect">
            <a:avLst/>
          </a:prstGeom>
          <a:noFill/>
          <a:ln/>
        </p:spPr>
        <p:txBody>
          <a:bodyPr wrap="square" lIns="0" tIns="0" rIns="0" bIns="0" rtlCol="0" anchor="ctr"/>
          <a:lstStyle/>
          <a:p>
            <a:pPr marL="342900" indent="-342900">
              <a:spcAft>
                <a:spcPts val="1200"/>
              </a:spcAft>
              <a:buSzPct val="100000"/>
              <a:buChar char="•"/>
            </a:pPr>
            <a:r>
              <a:rPr lang="en-US" sz="1550" dirty="0">
                <a:solidFill>
                  <a:srgbClr val="17272B"/>
                </a:solidFill>
                <a:latin typeface="Calibri" pitchFamily="34" charset="0"/>
                <a:ea typeface="Calibri" pitchFamily="34" charset="-122"/>
                <a:cs typeface="Calibri" pitchFamily="34" charset="-120"/>
              </a:rPr>
              <a:t>You — signed in with Google, by invitation</a:t>
            </a:r>
            <a:endParaRPr lang="en-US" sz="1550" dirty="0"/>
          </a:p>
          <a:p>
            <a:pPr marL="342900" indent="-342900">
              <a:spcAft>
                <a:spcPts val="1200"/>
              </a:spcAft>
              <a:buSzPct val="100000"/>
              <a:buChar char="•"/>
            </a:pPr>
            <a:r>
              <a:rPr lang="en-US" sz="1550" dirty="0">
                <a:solidFill>
                  <a:srgbClr val="17272B"/>
                </a:solidFill>
                <a:latin typeface="Calibri" pitchFamily="34" charset="0"/>
                <a:ea typeface="Calibri" pitchFamily="34" charset="-122"/>
                <a:cs typeface="Calibri" pitchFamily="34" charset="-120"/>
              </a:rPr>
              <a:t>Everything above, plus the ability to change it</a:t>
            </a:r>
            <a:endParaRPr lang="en-US" sz="1550" dirty="0"/>
          </a:p>
          <a:p>
            <a:pPr marL="342900" indent="-342900">
              <a:spcAft>
                <a:spcPts val="1200"/>
              </a:spcAft>
              <a:buSzPct val="100000"/>
              <a:buChar char="•"/>
            </a:pPr>
            <a:r>
              <a:rPr lang="en-US" sz="1550" dirty="0">
                <a:solidFill>
                  <a:srgbClr val="17272B"/>
                </a:solidFill>
                <a:latin typeface="Calibri" pitchFamily="34" charset="0"/>
                <a:ea typeface="Calibri" pitchFamily="34" charset="-122"/>
                <a:cs typeface="Calibri" pitchFamily="34" charset="-120"/>
              </a:rPr>
              <a:t>Roll, roster, schedule, repertoire, documents, announcements</a:t>
            </a:r>
            <a:endParaRPr lang="en-US" sz="1550" dirty="0"/>
          </a:p>
        </p:txBody>
      </p:sp>
      <p:sp>
        <p:nvSpPr>
          <p:cNvPr id="10" name="Text 8"/>
          <p:cNvSpPr/>
          <p:nvPr/>
        </p:nvSpPr>
        <p:spPr>
          <a:xfrm>
            <a:off x="640080" y="5349240"/>
            <a:ext cx="10911535" cy="411480"/>
          </a:xfrm>
          <a:prstGeom prst="rect">
            <a:avLst/>
          </a:prstGeom>
          <a:noFill/>
          <a:ln/>
        </p:spPr>
        <p:txBody>
          <a:bodyPr wrap="square" lIns="0" tIns="0" rIns="0" bIns="0" rtlCol="0" anchor="ctr"/>
          <a:lstStyle/>
          <a:p>
            <a:pPr algn="ctr" indent="0" marL="0">
              <a:buNone/>
            </a:pPr>
            <a:r>
              <a:rPr lang="en-US" sz="1700" i="1" dirty="0">
                <a:solidFill>
                  <a:srgbClr val="0A5560"/>
                </a:solidFill>
                <a:latin typeface="Calibri" pitchFamily="34" charset="0"/>
                <a:ea typeface="Calibri" pitchFamily="34" charset="-122"/>
                <a:cs typeface="Calibri" pitchFamily="34" charset="-120"/>
              </a:rPr>
              <a:t>Same information. Same moment. There is no third place, and no export step in between.</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272E"/>
        </a:solidFill>
      </p:bgPr>
    </p:bg>
    <p:spTree>
      <p:nvGrpSpPr>
        <p:cNvPr id="1" name=""/>
        <p:cNvGrpSpPr/>
        <p:nvPr/>
      </p:nvGrpSpPr>
      <p:grpSpPr>
        <a:xfrm>
          <a:off x="0" y="0"/>
          <a:ext cx="0" cy="0"/>
          <a:chOff x="0" y="0"/>
          <a:chExt cx="0" cy="0"/>
        </a:xfrm>
      </p:grpSpPr>
      <p:sp>
        <p:nvSpPr>
          <p:cNvPr id="2" name="Text 0"/>
          <p:cNvSpPr/>
          <p:nvPr/>
        </p:nvSpPr>
        <p:spPr>
          <a:xfrm>
            <a:off x="640080" y="502920"/>
            <a:ext cx="10911535" cy="274320"/>
          </a:xfrm>
          <a:prstGeom prst="rect">
            <a:avLst/>
          </a:prstGeom>
          <a:noFill/>
          <a:ln/>
        </p:spPr>
        <p:txBody>
          <a:bodyPr wrap="square" lIns="0" tIns="0" rIns="0" bIns="0" rtlCol="0" anchor="ctr"/>
          <a:lstStyle/>
          <a:p>
            <a:pPr indent="0" marL="0">
              <a:buNone/>
            </a:pPr>
            <a:r>
              <a:rPr lang="en-US" sz="1200" b="1" spc="200" kern="0" dirty="0">
                <a:solidFill>
                  <a:srgbClr val="7FC3CD"/>
                </a:solidFill>
                <a:latin typeface="Calibri" pitchFamily="34" charset="0"/>
                <a:ea typeface="Calibri" pitchFamily="34" charset="-122"/>
                <a:cs typeface="Calibri" pitchFamily="34" charset="-120"/>
              </a:rPr>
              <a:t>THE ONE IDEA</a:t>
            </a:r>
            <a:endParaRPr lang="en-US" sz="1200" dirty="0"/>
          </a:p>
        </p:txBody>
      </p:sp>
      <p:sp>
        <p:nvSpPr>
          <p:cNvPr id="3" name="Text 1"/>
          <p:cNvSpPr/>
          <p:nvPr/>
        </p:nvSpPr>
        <p:spPr>
          <a:xfrm>
            <a:off x="640080" y="1371600"/>
            <a:ext cx="10911535" cy="2011680"/>
          </a:xfrm>
          <a:prstGeom prst="rect">
            <a:avLst/>
          </a:prstGeom>
          <a:noFill/>
          <a:ln/>
        </p:spPr>
        <p:txBody>
          <a:bodyPr wrap="square" lIns="0" tIns="0" rIns="0" bIns="0" rtlCol="0" anchor="ctr"/>
          <a:lstStyle/>
          <a:p>
            <a:pPr indent="0" marL="0">
              <a:lnSpc>
                <a:spcPts val="6600"/>
              </a:lnSpc>
              <a:buNone/>
            </a:pPr>
            <a:r>
              <a:rPr lang="en-US" sz="6000" b="1" dirty="0">
                <a:solidFill>
                  <a:srgbClr val="FFFFFF"/>
                </a:solidFill>
                <a:latin typeface="Cambria" pitchFamily="34" charset="0"/>
                <a:ea typeface="Cambria" pitchFamily="34" charset="-122"/>
                <a:cs typeface="Cambria" pitchFamily="34" charset="-120"/>
              </a:rPr>
              <a:t>You set it once.</a:t>
            </a:r>
            <a:endParaRPr lang="en-US" sz="6000" dirty="0"/>
          </a:p>
          <a:p>
            <a:pPr indent="0" marL="0">
              <a:lnSpc>
                <a:spcPts val="6600"/>
              </a:lnSpc>
              <a:buNone/>
            </a:pPr>
            <a:r>
              <a:rPr lang="en-US" sz="6000" b="1" dirty="0">
                <a:solidFill>
                  <a:srgbClr val="FFFFFF"/>
                </a:solidFill>
                <a:latin typeface="Cambria" pitchFamily="34" charset="0"/>
                <a:ea typeface="Cambria" pitchFamily="34" charset="-122"/>
                <a:cs typeface="Cambria" pitchFamily="34" charset="-120"/>
              </a:rPr>
              <a:t>Everyone sees it.</a:t>
            </a:r>
            <a:endParaRPr lang="en-US" sz="6000" dirty="0"/>
          </a:p>
        </p:txBody>
      </p:sp>
      <p:sp>
        <p:nvSpPr>
          <p:cNvPr id="4" name="Text 2"/>
          <p:cNvSpPr/>
          <p:nvPr/>
        </p:nvSpPr>
        <p:spPr>
          <a:xfrm>
            <a:off x="640080" y="3611880"/>
            <a:ext cx="9692640" cy="640080"/>
          </a:xfrm>
          <a:prstGeom prst="rect">
            <a:avLst/>
          </a:prstGeom>
          <a:noFill/>
          <a:ln/>
        </p:spPr>
        <p:txBody>
          <a:bodyPr wrap="square" lIns="0" tIns="0" rIns="0" bIns="0" rtlCol="0" anchor="ctr"/>
          <a:lstStyle/>
          <a:p>
            <a:pPr indent="0" marL="0">
              <a:buNone/>
            </a:pPr>
            <a:r>
              <a:rPr lang="en-US" sz="1900" dirty="0">
                <a:solidFill>
                  <a:srgbClr val="9FD2DA"/>
                </a:solidFill>
                <a:latin typeface="Calibri" pitchFamily="34" charset="0"/>
                <a:ea typeface="Calibri" pitchFamily="34" charset="-122"/>
                <a:cs typeface="Calibri" pitchFamily="34" charset="-120"/>
              </a:rPr>
              <a:t>Cancel a rehearsal in the app and you are not also posting it somewhere. The cancellation IS the notice.</a:t>
            </a:r>
            <a:endParaRPr lang="en-US" sz="1900" dirty="0"/>
          </a:p>
        </p:txBody>
      </p:sp>
      <p:sp>
        <p:nvSpPr>
          <p:cNvPr id="5" name="Shape 3"/>
          <p:cNvSpPr/>
          <p:nvPr/>
        </p:nvSpPr>
        <p:spPr>
          <a:xfrm>
            <a:off x="640080" y="4572000"/>
            <a:ext cx="3520440" cy="777240"/>
          </a:xfrm>
          <a:prstGeom prst="roundRect">
            <a:avLst>
              <a:gd name="adj" fmla="val 11765"/>
            </a:avLst>
          </a:prstGeom>
          <a:solidFill>
            <a:srgbClr val="143840"/>
          </a:solidFill>
          <a:ln w="12700">
            <a:solidFill>
              <a:srgbClr val="2C5A64"/>
            </a:solidFill>
            <a:prstDash val="solid"/>
          </a:ln>
        </p:spPr>
      </p:sp>
      <p:sp>
        <p:nvSpPr>
          <p:cNvPr id="6" name="Text 4"/>
          <p:cNvSpPr/>
          <p:nvPr/>
        </p:nvSpPr>
        <p:spPr>
          <a:xfrm>
            <a:off x="822960" y="4572000"/>
            <a:ext cx="3154680" cy="777240"/>
          </a:xfrm>
          <a:prstGeom prst="rect">
            <a:avLst/>
          </a:prstGeom>
          <a:noFill/>
          <a:ln/>
        </p:spPr>
        <p:txBody>
          <a:bodyPr wrap="square" lIns="0" tIns="0" rIns="0" bIns="0" rtlCol="0" anchor="ctr"/>
          <a:lstStyle/>
          <a:p>
            <a:pPr algn="ctr" indent="0" marL="0">
              <a:buNone/>
            </a:pPr>
            <a:r>
              <a:rPr lang="en-US" sz="1450" dirty="0">
                <a:solidFill>
                  <a:srgbClr val="CFE6EA"/>
                </a:solidFill>
                <a:latin typeface="Calibri" pitchFamily="34" charset="0"/>
                <a:ea typeface="Calibri" pitchFamily="34" charset="-122"/>
                <a:cs typeface="Calibri" pitchFamily="34" charset="-120"/>
              </a:rPr>
              <a:t>the front page of the site</a:t>
            </a:r>
            <a:endParaRPr lang="en-US" sz="1450" dirty="0"/>
          </a:p>
        </p:txBody>
      </p:sp>
      <p:sp>
        <p:nvSpPr>
          <p:cNvPr id="7" name="Shape 5"/>
          <p:cNvSpPr/>
          <p:nvPr/>
        </p:nvSpPr>
        <p:spPr>
          <a:xfrm>
            <a:off x="4544568" y="4572000"/>
            <a:ext cx="3520440" cy="777240"/>
          </a:xfrm>
          <a:prstGeom prst="roundRect">
            <a:avLst>
              <a:gd name="adj" fmla="val 11765"/>
            </a:avLst>
          </a:prstGeom>
          <a:solidFill>
            <a:srgbClr val="143840"/>
          </a:solidFill>
          <a:ln w="12700">
            <a:solidFill>
              <a:srgbClr val="2C5A64"/>
            </a:solidFill>
            <a:prstDash val="solid"/>
          </a:ln>
        </p:spPr>
      </p:sp>
      <p:sp>
        <p:nvSpPr>
          <p:cNvPr id="8" name="Text 6"/>
          <p:cNvSpPr/>
          <p:nvPr/>
        </p:nvSpPr>
        <p:spPr>
          <a:xfrm>
            <a:off x="4727448" y="4572000"/>
            <a:ext cx="3154680" cy="777240"/>
          </a:xfrm>
          <a:prstGeom prst="rect">
            <a:avLst/>
          </a:prstGeom>
          <a:noFill/>
          <a:ln/>
        </p:spPr>
        <p:txBody>
          <a:bodyPr wrap="square" lIns="0" tIns="0" rIns="0" bIns="0" rtlCol="0" anchor="ctr"/>
          <a:lstStyle/>
          <a:p>
            <a:pPr algn="ctr" indent="0" marL="0">
              <a:buNone/>
            </a:pPr>
            <a:r>
              <a:rPr lang="en-US" sz="1450" dirty="0">
                <a:solidFill>
                  <a:srgbClr val="CFE6EA"/>
                </a:solidFill>
                <a:latin typeface="Calibri" pitchFamily="34" charset="0"/>
                <a:ea typeface="Calibri" pitchFamily="34" charset="-122"/>
                <a:cs typeface="Calibri" pitchFamily="34" charset="-120"/>
              </a:rPr>
              <a:t>every affected student’s schedule</a:t>
            </a:r>
            <a:endParaRPr lang="en-US" sz="1450" dirty="0"/>
          </a:p>
        </p:txBody>
      </p:sp>
      <p:sp>
        <p:nvSpPr>
          <p:cNvPr id="9" name="Shape 7"/>
          <p:cNvSpPr/>
          <p:nvPr/>
        </p:nvSpPr>
        <p:spPr>
          <a:xfrm>
            <a:off x="8449056" y="4572000"/>
            <a:ext cx="3520440" cy="777240"/>
          </a:xfrm>
          <a:prstGeom prst="roundRect">
            <a:avLst>
              <a:gd name="adj" fmla="val 11765"/>
            </a:avLst>
          </a:prstGeom>
          <a:solidFill>
            <a:srgbClr val="143840"/>
          </a:solidFill>
          <a:ln w="12700">
            <a:solidFill>
              <a:srgbClr val="2C5A64"/>
            </a:solidFill>
            <a:prstDash val="solid"/>
          </a:ln>
        </p:spPr>
      </p:sp>
      <p:sp>
        <p:nvSpPr>
          <p:cNvPr id="10" name="Text 8"/>
          <p:cNvSpPr/>
          <p:nvPr/>
        </p:nvSpPr>
        <p:spPr>
          <a:xfrm>
            <a:off x="8631936" y="4572000"/>
            <a:ext cx="3154680" cy="777240"/>
          </a:xfrm>
          <a:prstGeom prst="rect">
            <a:avLst/>
          </a:prstGeom>
          <a:noFill/>
          <a:ln/>
        </p:spPr>
        <p:txBody>
          <a:bodyPr wrap="square" lIns="0" tIns="0" rIns="0" bIns="0" rtlCol="0" anchor="ctr"/>
          <a:lstStyle/>
          <a:p>
            <a:pPr algn="ctr" indent="0" marL="0">
              <a:buNone/>
            </a:pPr>
            <a:r>
              <a:rPr lang="en-US" sz="1450" dirty="0">
                <a:solidFill>
                  <a:srgbClr val="CFE6EA"/>
                </a:solidFill>
                <a:latin typeface="Calibri" pitchFamily="34" charset="0"/>
                <a:ea typeface="Calibri" pitchFamily="34" charset="-122"/>
                <a:cs typeface="Calibri" pitchFamily="34" charset="-120"/>
              </a:rPr>
              <a:t>the calendars people subscribed to</a:t>
            </a:r>
            <a:endParaRPr lang="en-US" sz="1450" dirty="0"/>
          </a:p>
        </p:txBody>
      </p:sp>
      <p:sp>
        <p:nvSpPr>
          <p:cNvPr id="11" name="Text 9"/>
          <p:cNvSpPr/>
          <p:nvPr/>
        </p:nvSpPr>
        <p:spPr>
          <a:xfrm>
            <a:off x="640080" y="5577840"/>
            <a:ext cx="10911535" cy="365760"/>
          </a:xfrm>
          <a:prstGeom prst="rect">
            <a:avLst/>
          </a:prstGeom>
          <a:noFill/>
          <a:ln/>
        </p:spPr>
        <p:txBody>
          <a:bodyPr wrap="square" lIns="0" tIns="0" rIns="0" bIns="0" rtlCol="0" anchor="ctr"/>
          <a:lstStyle/>
          <a:p>
            <a:pPr indent="0" marL="0">
              <a:buNone/>
            </a:pPr>
            <a:r>
              <a:rPr lang="en-US" sz="1600" i="1" dirty="0">
                <a:solidFill>
                  <a:srgbClr val="B8862B"/>
                </a:solidFill>
                <a:latin typeface="Calibri" pitchFamily="34" charset="0"/>
                <a:ea typeface="Calibri" pitchFamily="34" charset="-122"/>
                <a:cs typeface="Calibri" pitchFamily="34" charset="-120"/>
              </a:rPr>
              <a:t>One action. You don’t chase it afterward.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LIVE — THE PUBLIC SITE</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What a family sees</a:t>
            </a:r>
            <a:endParaRPr lang="en-US" sz="3600" dirty="0"/>
          </a:p>
        </p:txBody>
      </p:sp>
      <p:sp>
        <p:nvSpPr>
          <p:cNvPr id="4" name="Shape 2"/>
          <p:cNvSpPr/>
          <p:nvPr/>
        </p:nvSpPr>
        <p:spPr>
          <a:xfrm>
            <a:off x="640080" y="1819656"/>
            <a:ext cx="384048" cy="384048"/>
          </a:xfrm>
          <a:prstGeom prst="ellipse">
            <a:avLst/>
          </a:prstGeom>
          <a:solidFill>
            <a:srgbClr val="0D7E8E"/>
          </a:solidFill>
          <a:ln/>
        </p:spPr>
      </p:sp>
      <p:sp>
        <p:nvSpPr>
          <p:cNvPr id="5" name="Text 3"/>
          <p:cNvSpPr/>
          <p:nvPr/>
        </p:nvSpPr>
        <p:spPr>
          <a:xfrm>
            <a:off x="640080" y="18196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207008" y="1783080"/>
            <a:ext cx="5833872"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A red strip, or nothing</a:t>
            </a:r>
            <a:endParaRPr lang="en-US" sz="1700" dirty="0"/>
          </a:p>
        </p:txBody>
      </p:sp>
      <p:sp>
        <p:nvSpPr>
          <p:cNvPr id="7" name="Text 5"/>
          <p:cNvSpPr/>
          <p:nvPr/>
        </p:nvSpPr>
        <p:spPr>
          <a:xfrm>
            <a:off x="1207008" y="2112264"/>
            <a:ext cx="5833872" cy="777240"/>
          </a:xfrm>
          <a:prstGeom prst="rect">
            <a:avLst/>
          </a:prstGeom>
          <a:noFill/>
          <a:ln/>
        </p:spPr>
        <p:txBody>
          <a:bodyPr wrap="square" lIns="0" tIns="0" rIns="0" bIns="0" rtlCol="0" anchor="t"/>
          <a:lstStyle/>
          <a:p>
            <a:pPr indent="0" marL="0">
              <a:buNone/>
            </a:pPr>
            <a:r>
              <a:rPr lang="en-US" sz="1450" dirty="0">
                <a:solidFill>
                  <a:srgbClr val="5C6E73"/>
                </a:solidFill>
                <a:latin typeface="Calibri" pitchFamily="34" charset="0"/>
                <a:ea typeface="Calibri" pitchFamily="34" charset="-122"/>
                <a:cs typeface="Calibri" pitchFamily="34" charset="-120"/>
              </a:rPr>
              <a:t>Anything cancelled or moved today shows at the very top. No red strip means today is normal — and that is the whole point.</a:t>
            </a:r>
            <a:endParaRPr lang="en-US" sz="1450" dirty="0"/>
          </a:p>
        </p:txBody>
      </p:sp>
      <p:sp>
        <p:nvSpPr>
          <p:cNvPr id="8" name="Shape 6"/>
          <p:cNvSpPr/>
          <p:nvPr/>
        </p:nvSpPr>
        <p:spPr>
          <a:xfrm>
            <a:off x="640080" y="3026664"/>
            <a:ext cx="384048" cy="384048"/>
          </a:xfrm>
          <a:prstGeom prst="ellipse">
            <a:avLst/>
          </a:prstGeom>
          <a:solidFill>
            <a:srgbClr val="0D7E8E"/>
          </a:solidFill>
          <a:ln/>
        </p:spPr>
      </p:sp>
      <p:sp>
        <p:nvSpPr>
          <p:cNvPr id="9" name="Text 7"/>
          <p:cNvSpPr/>
          <p:nvPr/>
        </p:nvSpPr>
        <p:spPr>
          <a:xfrm>
            <a:off x="640080" y="30266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207008" y="2990088"/>
            <a:ext cx="5833872"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Find your name once</a:t>
            </a:r>
            <a:endParaRPr lang="en-US" sz="1700" dirty="0"/>
          </a:p>
        </p:txBody>
      </p:sp>
      <p:sp>
        <p:nvSpPr>
          <p:cNvPr id="11" name="Text 9"/>
          <p:cNvSpPr/>
          <p:nvPr/>
        </p:nvSpPr>
        <p:spPr>
          <a:xfrm>
            <a:off x="1207008" y="3319272"/>
            <a:ext cx="5833872" cy="777240"/>
          </a:xfrm>
          <a:prstGeom prst="rect">
            <a:avLst/>
          </a:prstGeom>
          <a:noFill/>
          <a:ln/>
        </p:spPr>
        <p:txBody>
          <a:bodyPr wrap="square" lIns="0" tIns="0" rIns="0" bIns="0" rtlCol="0" anchor="t"/>
          <a:lstStyle/>
          <a:p>
            <a:pPr indent="0" marL="0">
              <a:buNone/>
            </a:pPr>
            <a:r>
              <a:rPr lang="en-US" sz="1450" dirty="0">
                <a:solidFill>
                  <a:srgbClr val="5C6E73"/>
                </a:solidFill>
                <a:latin typeface="Calibri" pitchFamily="34" charset="0"/>
                <a:ea typeface="Calibri" pitchFamily="34" charset="-122"/>
                <a:cs typeface="Calibri" pitchFamily="34" charset="-120"/>
              </a:rPr>
              <a:t>The site remembers that student on that device. From then on it’s their rehearsals, their concerts, their part.</a:t>
            </a:r>
            <a:endParaRPr lang="en-US" sz="1450" dirty="0"/>
          </a:p>
        </p:txBody>
      </p:sp>
      <p:sp>
        <p:nvSpPr>
          <p:cNvPr id="12" name="Shape 10"/>
          <p:cNvSpPr/>
          <p:nvPr/>
        </p:nvSpPr>
        <p:spPr>
          <a:xfrm>
            <a:off x="640080" y="4233672"/>
            <a:ext cx="384048" cy="384048"/>
          </a:xfrm>
          <a:prstGeom prst="ellipse">
            <a:avLst/>
          </a:prstGeom>
          <a:solidFill>
            <a:srgbClr val="0D7E8E"/>
          </a:solidFill>
          <a:ln/>
        </p:spPr>
      </p:sp>
      <p:sp>
        <p:nvSpPr>
          <p:cNvPr id="13" name="Text 11"/>
          <p:cNvSpPr/>
          <p:nvPr/>
        </p:nvSpPr>
        <p:spPr>
          <a:xfrm>
            <a:off x="640080" y="42336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207008" y="4197096"/>
            <a:ext cx="5833872"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Two kids? Save both</a:t>
            </a:r>
            <a:endParaRPr lang="en-US" sz="1700" dirty="0"/>
          </a:p>
        </p:txBody>
      </p:sp>
      <p:sp>
        <p:nvSpPr>
          <p:cNvPr id="15" name="Text 13"/>
          <p:cNvSpPr/>
          <p:nvPr/>
        </p:nvSpPr>
        <p:spPr>
          <a:xfrm>
            <a:off x="1207008" y="4526280"/>
            <a:ext cx="5833872" cy="777240"/>
          </a:xfrm>
          <a:prstGeom prst="rect">
            <a:avLst/>
          </a:prstGeom>
          <a:noFill/>
          <a:ln/>
        </p:spPr>
        <p:txBody>
          <a:bodyPr wrap="square" lIns="0" tIns="0" rIns="0" bIns="0" rtlCol="0" anchor="t"/>
          <a:lstStyle/>
          <a:p>
            <a:pPr indent="0" marL="0">
              <a:buNone/>
            </a:pPr>
            <a:r>
              <a:rPr lang="en-US" sz="1450" dirty="0">
                <a:solidFill>
                  <a:srgbClr val="5C6E73"/>
                </a:solidFill>
                <a:latin typeface="Calibri" pitchFamily="34" charset="0"/>
                <a:ea typeface="Calibri" pitchFamily="34" charset="-122"/>
                <a:cs typeface="Calibri" pitchFamily="34" charset="-120"/>
              </a:rPr>
              <a:t>Parent mode holds several students at once.</a:t>
            </a:r>
            <a:endParaRPr lang="en-US" sz="1450" dirty="0"/>
          </a:p>
        </p:txBody>
      </p:sp>
      <p:sp>
        <p:nvSpPr>
          <p:cNvPr id="16" name="Shape 14"/>
          <p:cNvSpPr/>
          <p:nvPr/>
        </p:nvSpPr>
        <p:spPr>
          <a:xfrm>
            <a:off x="7498080" y="1783080"/>
            <a:ext cx="4053535" cy="2697480"/>
          </a:xfrm>
          <a:prstGeom prst="roundRect">
            <a:avLst>
              <a:gd name="adj" fmla="val 3051"/>
            </a:avLst>
          </a:prstGeom>
          <a:solidFill>
            <a:srgbClr val="0A5560"/>
          </a:solidFill>
          <a:ln w="12700">
            <a:solidFill>
              <a:srgbClr val="0A5560"/>
            </a:solidFill>
            <a:prstDash val="solid"/>
          </a:ln>
          <a:effectLst>
            <a:outerShdw sx="100000" sy="100000" kx="0" ky="0" algn="bl" rotWithShape="0" blurRad="127000" dist="25400" dir="5400000">
              <a:srgbClr val="9FB3B7">
                <a:alpha val="28000"/>
              </a:srgbClr>
            </a:outerShdw>
          </a:effectLst>
        </p:spPr>
      </p:sp>
      <p:sp>
        <p:nvSpPr>
          <p:cNvPr id="17" name="Text 15"/>
          <p:cNvSpPr/>
          <p:nvPr/>
        </p:nvSpPr>
        <p:spPr>
          <a:xfrm>
            <a:off x="7818120" y="2103120"/>
            <a:ext cx="3413455" cy="1371600"/>
          </a:xfrm>
          <a:prstGeom prst="rect">
            <a:avLst/>
          </a:prstGeom>
          <a:noFill/>
          <a:ln/>
        </p:spPr>
        <p:txBody>
          <a:bodyPr wrap="square" lIns="0" tIns="0" rIns="0" bIns="0" rtlCol="0" anchor="ctr"/>
          <a:lstStyle/>
          <a:p>
            <a:pPr indent="0" marL="0">
              <a:lnSpc>
                <a:spcPts val="3600"/>
              </a:lnSpc>
              <a:buNone/>
            </a:pPr>
            <a:r>
              <a:rPr lang="en-US" sz="2300" b="1" dirty="0">
                <a:solidFill>
                  <a:srgbClr val="FFFFFF"/>
                </a:solidFill>
                <a:latin typeface="Cambria" pitchFamily="34" charset="0"/>
                <a:ea typeface="Cambria" pitchFamily="34" charset="-122"/>
                <a:cs typeface="Cambria" pitchFamily="34" charset="-120"/>
              </a:rPr>
              <a:t>No account.</a:t>
            </a:r>
            <a:endParaRPr lang="en-US" sz="2300" dirty="0"/>
          </a:p>
          <a:p>
            <a:pPr indent="0" marL="0">
              <a:lnSpc>
                <a:spcPts val="3600"/>
              </a:lnSpc>
              <a:buNone/>
            </a:pPr>
            <a:r>
              <a:rPr lang="en-US" sz="2300" b="1" dirty="0">
                <a:solidFill>
                  <a:srgbClr val="FFFFFF"/>
                </a:solidFill>
                <a:latin typeface="Cambria" pitchFamily="34" charset="0"/>
                <a:ea typeface="Cambria" pitchFamily="34" charset="-122"/>
                <a:cs typeface="Cambria" pitchFamily="34" charset="-120"/>
              </a:rPr>
              <a:t>No password to reset.</a:t>
            </a:r>
            <a:endParaRPr lang="en-US" sz="2300" dirty="0"/>
          </a:p>
          <a:p>
            <a:pPr indent="0" marL="0">
              <a:lnSpc>
                <a:spcPts val="3600"/>
              </a:lnSpc>
              <a:buNone/>
            </a:pPr>
            <a:r>
              <a:rPr lang="en-US" sz="2300" b="1" dirty="0">
                <a:solidFill>
                  <a:srgbClr val="FFFFFF"/>
                </a:solidFill>
                <a:latin typeface="Cambria" pitchFamily="34" charset="0"/>
                <a:ea typeface="Cambria" pitchFamily="34" charset="-122"/>
                <a:cs typeface="Cambria" pitchFamily="34" charset="-120"/>
              </a:rPr>
              <a:t>Nothing to download.</a:t>
            </a:r>
            <a:endParaRPr lang="en-US" sz="2300" dirty="0"/>
          </a:p>
        </p:txBody>
      </p:sp>
      <p:sp>
        <p:nvSpPr>
          <p:cNvPr id="18" name="Text 16"/>
          <p:cNvSpPr/>
          <p:nvPr/>
        </p:nvSpPr>
        <p:spPr>
          <a:xfrm>
            <a:off x="7818120" y="3566160"/>
            <a:ext cx="3413455" cy="731520"/>
          </a:xfrm>
          <a:prstGeom prst="rect">
            <a:avLst/>
          </a:prstGeom>
          <a:noFill/>
          <a:ln/>
        </p:spPr>
        <p:txBody>
          <a:bodyPr wrap="square" lIns="0" tIns="0" rIns="0" bIns="0" rtlCol="0" anchor="ctr"/>
          <a:lstStyle/>
          <a:p>
            <a:pPr indent="0" marL="0">
              <a:buNone/>
            </a:pPr>
            <a:r>
              <a:rPr lang="en-US" sz="1400" i="1" dirty="0">
                <a:solidFill>
                  <a:srgbClr val="A8D3DA"/>
                </a:solidFill>
                <a:latin typeface="Calibri" pitchFamily="34" charset="0"/>
                <a:ea typeface="Calibri" pitchFamily="34" charset="-122"/>
                <a:cs typeface="Calibri" pitchFamily="34" charset="-120"/>
              </a:rPr>
              <a:t>An account is a wall. We don’t need one to tell somebody when rehearsal is.</a:t>
            </a:r>
            <a:endParaRPr lang="en-US" sz="1400" dirty="0"/>
          </a:p>
        </p:txBody>
      </p:sp>
      <p:sp>
        <p:nvSpPr>
          <p:cNvPr id="19" name="Text 17"/>
          <p:cNvSpPr/>
          <p:nvPr/>
        </p:nvSpPr>
        <p:spPr>
          <a:xfrm>
            <a:off x="640080" y="5623560"/>
            <a:ext cx="10911535" cy="365760"/>
          </a:xfrm>
          <a:prstGeom prst="rect">
            <a:avLst/>
          </a:prstGeom>
          <a:noFill/>
          <a:ln/>
        </p:spPr>
        <p:txBody>
          <a:bodyPr wrap="square" lIns="0" tIns="0" rIns="0" bIns="0" rtlCol="0" anchor="ctr"/>
          <a:lstStyle/>
          <a:p>
            <a:pPr indent="0" marL="0">
              <a:buNone/>
            </a:pPr>
            <a:r>
              <a:rPr lang="en-US" sz="1500" b="1" dirty="0">
                <a:solidFill>
                  <a:srgbClr val="0D7E8E"/>
                </a:solidFill>
                <a:latin typeface="Calibri" pitchFamily="34" charset="0"/>
                <a:ea typeface="Calibri" pitchFamily="34" charset="-122"/>
                <a:cs typeface="Calibri" pitchFamily="34" charset="-120"/>
              </a:rPr>
              <a:t>LIVE: Home → My Schedule → look up a real student by name.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LIVE — THE DIRECTOR PANEL</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Your day starts here</a:t>
            </a:r>
            <a:endParaRPr lang="en-US" sz="3600" dirty="0"/>
          </a:p>
        </p:txBody>
      </p:sp>
      <p:sp>
        <p:nvSpPr>
          <p:cNvPr id="4" name="Shape 2"/>
          <p:cNvSpPr/>
          <p:nvPr/>
        </p:nvSpPr>
        <p:spPr>
          <a:xfrm>
            <a:off x="640080" y="1828800"/>
            <a:ext cx="5943600" cy="2743200"/>
          </a:xfrm>
          <a:prstGeom prst="roundRect">
            <a:avLst>
              <a:gd name="adj" fmla="val 3000"/>
            </a:avLst>
          </a:prstGeom>
          <a:solidFill>
            <a:srgbClr val="FFFFFF"/>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Shape 3"/>
          <p:cNvSpPr/>
          <p:nvPr/>
        </p:nvSpPr>
        <p:spPr>
          <a:xfrm>
            <a:off x="868680" y="2084832"/>
            <a:ext cx="109728" cy="2231136"/>
          </a:xfrm>
          <a:prstGeom prst="roundRect">
            <a:avLst>
              <a:gd name="adj" fmla="val 50000"/>
            </a:avLst>
          </a:prstGeom>
          <a:solidFill>
            <a:srgbClr val="0D7E8E"/>
          </a:solidFill>
          <a:ln/>
        </p:spPr>
      </p:sp>
      <p:sp>
        <p:nvSpPr>
          <p:cNvPr id="6" name="Text 4"/>
          <p:cNvSpPr/>
          <p:nvPr/>
        </p:nvSpPr>
        <p:spPr>
          <a:xfrm>
            <a:off x="1143000" y="2084832"/>
            <a:ext cx="5120640" cy="365760"/>
          </a:xfrm>
          <a:prstGeom prst="rect">
            <a:avLst/>
          </a:prstGeom>
          <a:noFill/>
          <a:ln/>
        </p:spPr>
        <p:txBody>
          <a:bodyPr wrap="square" lIns="0" tIns="0" rIns="0" bIns="0" rtlCol="0" anchor="ctr"/>
          <a:lstStyle/>
          <a:p>
            <a:pPr indent="0" marL="0">
              <a:buNone/>
            </a:pPr>
            <a:r>
              <a:rPr lang="en-US" sz="2000" b="1" dirty="0">
                <a:solidFill>
                  <a:srgbClr val="17272B"/>
                </a:solidFill>
                <a:latin typeface="Calibri" pitchFamily="34" charset="0"/>
                <a:ea typeface="Calibri" pitchFamily="34" charset="-122"/>
                <a:cs typeface="Calibri" pitchFamily="34" charset="-120"/>
              </a:rPr>
              <a:t>Ensemble</a:t>
            </a:r>
            <a:endParaRPr lang="en-US" sz="2000" dirty="0"/>
          </a:p>
        </p:txBody>
      </p:sp>
      <p:sp>
        <p:nvSpPr>
          <p:cNvPr id="7" name="Text 5"/>
          <p:cNvSpPr/>
          <p:nvPr/>
        </p:nvSpPr>
        <p:spPr>
          <a:xfrm>
            <a:off x="1143000" y="2514600"/>
            <a:ext cx="5120640" cy="320040"/>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start – end time      ·      room      ·      how many are expected</a:t>
            </a:r>
            <a:endParaRPr lang="en-US" sz="1400" dirty="0"/>
          </a:p>
        </p:txBody>
      </p:sp>
      <p:sp>
        <p:nvSpPr>
          <p:cNvPr id="8" name="Text 6"/>
          <p:cNvSpPr/>
          <p:nvPr/>
        </p:nvSpPr>
        <p:spPr>
          <a:xfrm>
            <a:off x="1143000" y="2852928"/>
            <a:ext cx="5120640" cy="320040"/>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what you’re rehearsing — the pieces linked to it</a:t>
            </a:r>
            <a:endParaRPr lang="en-US" sz="1400" dirty="0"/>
          </a:p>
        </p:txBody>
      </p:sp>
      <p:sp>
        <p:nvSpPr>
          <p:cNvPr id="9" name="Shape 7"/>
          <p:cNvSpPr/>
          <p:nvPr/>
        </p:nvSpPr>
        <p:spPr>
          <a:xfrm>
            <a:off x="1143000" y="3611880"/>
            <a:ext cx="3566160" cy="457200"/>
          </a:xfrm>
          <a:prstGeom prst="roundRect">
            <a:avLst>
              <a:gd name="adj" fmla="val 16000"/>
            </a:avLst>
          </a:prstGeom>
          <a:solidFill>
            <a:srgbClr val="E7F3EF"/>
          </a:solidFill>
          <a:ln w="12700">
            <a:solidFill>
              <a:srgbClr val="BCDBD0"/>
            </a:solidFill>
            <a:prstDash val="solid"/>
          </a:ln>
        </p:spPr>
      </p:sp>
      <p:sp>
        <p:nvSpPr>
          <p:cNvPr id="10" name="Text 8"/>
          <p:cNvSpPr/>
          <p:nvPr/>
        </p:nvSpPr>
        <p:spPr>
          <a:xfrm>
            <a:off x="1143000" y="3611880"/>
            <a:ext cx="3566160" cy="457200"/>
          </a:xfrm>
          <a:prstGeom prst="rect">
            <a:avLst/>
          </a:prstGeom>
          <a:noFill/>
          <a:ln/>
        </p:spPr>
        <p:txBody>
          <a:bodyPr wrap="square" lIns="0" tIns="0" rIns="0" bIns="0" rtlCol="0" anchor="ctr"/>
          <a:lstStyle/>
          <a:p>
            <a:pPr algn="ctr" indent="0" marL="0">
              <a:buNone/>
            </a:pPr>
            <a:r>
              <a:rPr lang="en-US" sz="1300" b="1" dirty="0">
                <a:solidFill>
                  <a:srgbClr val="2C6A55"/>
                </a:solidFill>
                <a:latin typeface="Calibri" pitchFamily="34" charset="0"/>
                <a:ea typeface="Calibri" pitchFamily="34" charset="-122"/>
                <a:cs typeface="Calibri" pitchFamily="34" charset="-120"/>
              </a:rPr>
              <a:t>✓  Roll taken — time, and by whom</a:t>
            </a:r>
            <a:endParaRPr lang="en-US" sz="1300" dirty="0"/>
          </a:p>
        </p:txBody>
      </p:sp>
      <p:sp>
        <p:nvSpPr>
          <p:cNvPr id="11" name="Text 9"/>
          <p:cNvSpPr/>
          <p:nvPr/>
        </p:nvSpPr>
        <p:spPr>
          <a:xfrm>
            <a:off x="640080" y="4681728"/>
            <a:ext cx="5943600" cy="274320"/>
          </a:xfrm>
          <a:prstGeom prst="rect">
            <a:avLst/>
          </a:prstGeom>
          <a:noFill/>
          <a:ln/>
        </p:spPr>
        <p:txBody>
          <a:bodyPr wrap="square" lIns="0" tIns="0" rIns="0" bIns="0" rtlCol="0" anchor="ctr"/>
          <a:lstStyle/>
          <a:p>
            <a:pPr indent="0" marL="0">
              <a:buNone/>
            </a:pPr>
            <a:r>
              <a:rPr lang="en-US" sz="1200" i="1" dirty="0">
                <a:solidFill>
                  <a:srgbClr val="5C6E73"/>
                </a:solidFill>
                <a:latin typeface="Calibri" pitchFamily="34" charset="0"/>
                <a:ea typeface="Calibri" pitchFamily="34" charset="-122"/>
                <a:cs typeface="Calibri" pitchFamily="34" charset="-120"/>
              </a:rPr>
              <a:t>the shape of every card — your real screen shows your ensembles</a:t>
            </a:r>
            <a:endParaRPr lang="en-US" sz="1200" dirty="0"/>
          </a:p>
        </p:txBody>
      </p:sp>
      <p:sp>
        <p:nvSpPr>
          <p:cNvPr id="12" name="Text 10"/>
          <p:cNvSpPr/>
          <p:nvPr/>
        </p:nvSpPr>
        <p:spPr>
          <a:xfrm>
            <a:off x="7086600" y="1783080"/>
            <a:ext cx="4465015" cy="320040"/>
          </a:xfrm>
          <a:prstGeom prst="rect">
            <a:avLst/>
          </a:prstGeom>
          <a:noFill/>
          <a:ln/>
        </p:spPr>
        <p:txBody>
          <a:bodyPr wrap="square" lIns="0" tIns="0" rIns="0" bIns="0" rtlCol="0" anchor="ctr"/>
          <a:lstStyle/>
          <a:p>
            <a:pPr indent="0" marL="0">
              <a:buNone/>
            </a:pPr>
            <a:r>
              <a:rPr lang="en-US" sz="1500" b="1" dirty="0">
                <a:solidFill>
                  <a:srgbClr val="0A5560"/>
                </a:solidFill>
                <a:latin typeface="Calibri" pitchFamily="34" charset="0"/>
                <a:ea typeface="Calibri" pitchFamily="34" charset="-122"/>
                <a:cs typeface="Calibri" pitchFamily="34" charset="-120"/>
              </a:rPr>
              <a:t>Underneath it, without looking anything up:</a:t>
            </a:r>
            <a:endParaRPr lang="en-US" sz="1500" dirty="0"/>
          </a:p>
        </p:txBody>
      </p:sp>
      <p:sp>
        <p:nvSpPr>
          <p:cNvPr id="13" name="Shape 11"/>
          <p:cNvSpPr/>
          <p:nvPr/>
        </p:nvSpPr>
        <p:spPr>
          <a:xfrm>
            <a:off x="7086600" y="2276856"/>
            <a:ext cx="384048" cy="384048"/>
          </a:xfrm>
          <a:prstGeom prst="ellipse">
            <a:avLst/>
          </a:prstGeom>
          <a:solidFill>
            <a:srgbClr val="0D7E8E"/>
          </a:solidFill>
          <a:ln/>
        </p:spPr>
      </p:sp>
      <p:sp>
        <p:nvSpPr>
          <p:cNvPr id="14" name="Text 12"/>
          <p:cNvSpPr/>
          <p:nvPr/>
        </p:nvSpPr>
        <p:spPr>
          <a:xfrm>
            <a:off x="7086600" y="227685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3"/>
          <p:cNvSpPr/>
          <p:nvPr/>
        </p:nvSpPr>
        <p:spPr>
          <a:xfrm>
            <a:off x="7653528" y="2240280"/>
            <a:ext cx="3898087"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Anything cancelled or changed today</a:t>
            </a:r>
            <a:endParaRPr lang="en-US" sz="1700" dirty="0"/>
          </a:p>
        </p:txBody>
      </p:sp>
      <p:sp>
        <p:nvSpPr>
          <p:cNvPr id="16" name="Shape 14"/>
          <p:cNvSpPr/>
          <p:nvPr/>
        </p:nvSpPr>
        <p:spPr>
          <a:xfrm>
            <a:off x="7086600" y="3081528"/>
            <a:ext cx="384048" cy="384048"/>
          </a:xfrm>
          <a:prstGeom prst="ellipse">
            <a:avLst/>
          </a:prstGeom>
          <a:solidFill>
            <a:srgbClr val="0D7E8E"/>
          </a:solidFill>
          <a:ln/>
        </p:spPr>
      </p:sp>
      <p:sp>
        <p:nvSpPr>
          <p:cNvPr id="17" name="Text 15"/>
          <p:cNvSpPr/>
          <p:nvPr/>
        </p:nvSpPr>
        <p:spPr>
          <a:xfrm>
            <a:off x="7086600" y="3081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p:nvPr/>
        </p:nvSpPr>
        <p:spPr>
          <a:xfrm>
            <a:off x="7653528" y="3044952"/>
            <a:ext cx="3898087"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Every lesson pulling a student out</a:t>
            </a:r>
            <a:endParaRPr lang="en-US" sz="1700" dirty="0"/>
          </a:p>
        </p:txBody>
      </p:sp>
      <p:sp>
        <p:nvSpPr>
          <p:cNvPr id="19" name="Shape 17"/>
          <p:cNvSpPr/>
          <p:nvPr/>
        </p:nvSpPr>
        <p:spPr>
          <a:xfrm>
            <a:off x="7086600" y="3886200"/>
            <a:ext cx="384048" cy="384048"/>
          </a:xfrm>
          <a:prstGeom prst="ellipse">
            <a:avLst/>
          </a:prstGeom>
          <a:solidFill>
            <a:srgbClr val="0D7E8E"/>
          </a:solidFill>
          <a:ln/>
        </p:spPr>
      </p:sp>
      <p:sp>
        <p:nvSpPr>
          <p:cNvPr id="20" name="Text 18"/>
          <p:cNvSpPr/>
          <p:nvPr/>
        </p:nvSpPr>
        <p:spPr>
          <a:xfrm>
            <a:off x="7086600" y="3886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7653528" y="3849624"/>
            <a:ext cx="3898087"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Unexcused absences nobody has dealt with</a:t>
            </a:r>
            <a:endParaRPr lang="en-US" sz="1700" dirty="0"/>
          </a:p>
        </p:txBody>
      </p:sp>
      <p:sp>
        <p:nvSpPr>
          <p:cNvPr id="22" name="Shape 20"/>
          <p:cNvSpPr/>
          <p:nvPr/>
        </p:nvSpPr>
        <p:spPr>
          <a:xfrm>
            <a:off x="7086600" y="4690872"/>
            <a:ext cx="384048" cy="384048"/>
          </a:xfrm>
          <a:prstGeom prst="ellipse">
            <a:avLst/>
          </a:prstGeom>
          <a:solidFill>
            <a:srgbClr val="0D7E8E"/>
          </a:solidFill>
          <a:ln/>
        </p:spPr>
      </p:sp>
      <p:sp>
        <p:nvSpPr>
          <p:cNvPr id="23" name="Text 21"/>
          <p:cNvSpPr/>
          <p:nvPr/>
        </p:nvSpPr>
        <p:spPr>
          <a:xfrm>
            <a:off x="7086600" y="46908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7653528" y="4654296"/>
            <a:ext cx="3898087" cy="310896"/>
          </a:xfrm>
          <a:prstGeom prst="rect">
            <a:avLst/>
          </a:prstGeom>
          <a:noFill/>
          <a:ln/>
        </p:spPr>
        <p:txBody>
          <a:bodyPr wrap="square" lIns="0" tIns="0" rIns="0" bIns="0" rtlCol="0" anchor="t"/>
          <a:lstStyle/>
          <a:p>
            <a:pPr indent="0" marL="0">
              <a:buNone/>
            </a:pPr>
            <a:r>
              <a:rPr lang="en-US" sz="1700" b="1" dirty="0">
                <a:solidFill>
                  <a:srgbClr val="17272B"/>
                </a:solidFill>
                <a:latin typeface="Calibri" pitchFamily="34" charset="0"/>
                <a:ea typeface="Calibri" pitchFamily="34" charset="-122"/>
                <a:cs typeface="Calibri" pitchFamily="34" charset="-120"/>
              </a:rPr>
              <a:t>Filter to just your ensemble — it remembers</a:t>
            </a:r>
            <a:endParaRPr lang="en-US" sz="1700" dirty="0"/>
          </a:p>
        </p:txBody>
      </p:sp>
      <p:sp>
        <p:nvSpPr>
          <p:cNvPr id="25" name="Text 23"/>
          <p:cNvSpPr/>
          <p:nvPr/>
        </p:nvSpPr>
        <p:spPr>
          <a:xfrm>
            <a:off x="7086600" y="5440680"/>
            <a:ext cx="4465015" cy="365760"/>
          </a:xfrm>
          <a:prstGeom prst="rect">
            <a:avLst/>
          </a:prstGeom>
          <a:noFill/>
          <a:ln/>
        </p:spPr>
        <p:txBody>
          <a:bodyPr wrap="square" lIns="0" tIns="0" rIns="0" bIns="0" rtlCol="0" anchor="ctr"/>
          <a:lstStyle/>
          <a:p>
            <a:pPr indent="0" marL="0">
              <a:buNone/>
            </a:pPr>
            <a:r>
              <a:rPr lang="en-US" sz="1600" i="1" dirty="0">
                <a:solidFill>
                  <a:srgbClr val="0A5560"/>
                </a:solidFill>
                <a:latin typeface="Calibri" pitchFamily="34" charset="0"/>
                <a:ea typeface="Calibri" pitchFamily="34" charset="-122"/>
                <a:cs typeface="Calibri" pitchFamily="34" charset="-120"/>
              </a:rPr>
              <a:t>One screen. That’s the morning.</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LIVE — TAKE ROLL</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You mark the exceptions. Nothing else.</a:t>
            </a:r>
            <a:endParaRPr lang="en-US" sz="3600" dirty="0"/>
          </a:p>
        </p:txBody>
      </p:sp>
      <p:sp>
        <p:nvSpPr>
          <p:cNvPr id="4" name="Shape 2"/>
          <p:cNvSpPr/>
          <p:nvPr/>
        </p:nvSpPr>
        <p:spPr>
          <a:xfrm>
            <a:off x="640080" y="1783080"/>
            <a:ext cx="2331720" cy="777240"/>
          </a:xfrm>
          <a:prstGeom prst="roundRect">
            <a:avLst>
              <a:gd name="adj" fmla="val 49412"/>
            </a:avLst>
          </a:prstGeom>
          <a:solidFill>
            <a:srgbClr val="C24545"/>
          </a:solidFill>
          <a:ln w="12700">
            <a:solidFill>
              <a:srgbClr val="C24545"/>
            </a:solidFill>
            <a:prstDash val="solid"/>
          </a:ln>
        </p:spPr>
      </p:sp>
      <p:sp>
        <p:nvSpPr>
          <p:cNvPr id="5" name="Text 3"/>
          <p:cNvSpPr/>
          <p:nvPr/>
        </p:nvSpPr>
        <p:spPr>
          <a:xfrm>
            <a:off x="640080" y="1783080"/>
            <a:ext cx="2331720" cy="77724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Absent</a:t>
            </a:r>
            <a:endParaRPr lang="en-US" sz="1900" dirty="0"/>
          </a:p>
        </p:txBody>
      </p:sp>
      <p:sp>
        <p:nvSpPr>
          <p:cNvPr id="6" name="Shape 4"/>
          <p:cNvSpPr/>
          <p:nvPr/>
        </p:nvSpPr>
        <p:spPr>
          <a:xfrm>
            <a:off x="3291840" y="1783080"/>
            <a:ext cx="2331720" cy="777240"/>
          </a:xfrm>
          <a:prstGeom prst="roundRect">
            <a:avLst>
              <a:gd name="adj" fmla="val 49412"/>
            </a:avLst>
          </a:prstGeom>
          <a:solidFill>
            <a:srgbClr val="B8862B"/>
          </a:solidFill>
          <a:ln w="12700">
            <a:solidFill>
              <a:srgbClr val="B8862B"/>
            </a:solidFill>
            <a:prstDash val="solid"/>
          </a:ln>
        </p:spPr>
      </p:sp>
      <p:sp>
        <p:nvSpPr>
          <p:cNvPr id="7" name="Text 5"/>
          <p:cNvSpPr/>
          <p:nvPr/>
        </p:nvSpPr>
        <p:spPr>
          <a:xfrm>
            <a:off x="3291840" y="1783080"/>
            <a:ext cx="2331720" cy="77724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Late</a:t>
            </a:r>
            <a:endParaRPr lang="en-US" sz="1900" dirty="0"/>
          </a:p>
        </p:txBody>
      </p:sp>
      <p:sp>
        <p:nvSpPr>
          <p:cNvPr id="8" name="Shape 6"/>
          <p:cNvSpPr/>
          <p:nvPr/>
        </p:nvSpPr>
        <p:spPr>
          <a:xfrm>
            <a:off x="5943600" y="1783080"/>
            <a:ext cx="2331720" cy="777240"/>
          </a:xfrm>
          <a:prstGeom prst="roundRect">
            <a:avLst>
              <a:gd name="adj" fmla="val 49412"/>
            </a:avLst>
          </a:prstGeom>
          <a:solidFill>
            <a:srgbClr val="2C6A85"/>
          </a:solidFill>
          <a:ln w="12700">
            <a:solidFill>
              <a:srgbClr val="2C6A85"/>
            </a:solidFill>
            <a:prstDash val="solid"/>
          </a:ln>
        </p:spPr>
      </p:sp>
      <p:sp>
        <p:nvSpPr>
          <p:cNvPr id="9" name="Text 7"/>
          <p:cNvSpPr/>
          <p:nvPr/>
        </p:nvSpPr>
        <p:spPr>
          <a:xfrm>
            <a:off x="5943600" y="1783080"/>
            <a:ext cx="2331720" cy="77724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Excused</a:t>
            </a:r>
            <a:endParaRPr lang="en-US" sz="1900" dirty="0"/>
          </a:p>
        </p:txBody>
      </p:sp>
      <p:sp>
        <p:nvSpPr>
          <p:cNvPr id="10" name="Shape 8"/>
          <p:cNvSpPr/>
          <p:nvPr/>
        </p:nvSpPr>
        <p:spPr>
          <a:xfrm>
            <a:off x="8595360" y="1783080"/>
            <a:ext cx="2331720" cy="777240"/>
          </a:xfrm>
          <a:prstGeom prst="roundRect">
            <a:avLst>
              <a:gd name="adj" fmla="val 49412"/>
            </a:avLst>
          </a:prstGeom>
          <a:solidFill>
            <a:srgbClr val="5C4A8A"/>
          </a:solidFill>
          <a:ln w="12700">
            <a:solidFill>
              <a:srgbClr val="5C4A8A"/>
            </a:solidFill>
            <a:prstDash val="solid"/>
          </a:ln>
        </p:spPr>
      </p:sp>
      <p:sp>
        <p:nvSpPr>
          <p:cNvPr id="11" name="Text 9"/>
          <p:cNvSpPr/>
          <p:nvPr/>
        </p:nvSpPr>
        <p:spPr>
          <a:xfrm>
            <a:off x="8595360" y="1783080"/>
            <a:ext cx="2331720" cy="77724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Lesson</a:t>
            </a:r>
            <a:endParaRPr lang="en-US" sz="1900" dirty="0"/>
          </a:p>
        </p:txBody>
      </p:sp>
      <p:sp>
        <p:nvSpPr>
          <p:cNvPr id="12" name="Text 10"/>
          <p:cNvSpPr/>
          <p:nvPr/>
        </p:nvSpPr>
        <p:spPr>
          <a:xfrm>
            <a:off x="640080" y="2788920"/>
            <a:ext cx="10911535" cy="502920"/>
          </a:xfrm>
          <a:prstGeom prst="rect">
            <a:avLst/>
          </a:prstGeom>
          <a:noFill/>
          <a:ln/>
        </p:spPr>
        <p:txBody>
          <a:bodyPr wrap="square" lIns="0" tIns="0" rIns="0" bIns="0" rtlCol="0" anchor="ctr"/>
          <a:lstStyle/>
          <a:p>
            <a:pPr indent="0" marL="0">
              <a:buNone/>
            </a:pPr>
            <a:r>
              <a:rPr lang="en-US" sz="3000" b="1" dirty="0">
                <a:solidFill>
                  <a:srgbClr val="17272B"/>
                </a:solidFill>
                <a:latin typeface="Cambria" pitchFamily="34" charset="0"/>
                <a:ea typeface="Cambria" pitchFamily="34" charset="-122"/>
                <a:cs typeface="Cambria" pitchFamily="34" charset="-120"/>
              </a:rPr>
              <a:t>Everyone else is present. You don’t touch them.</a:t>
            </a:r>
            <a:endParaRPr lang="en-US" sz="3000" dirty="0"/>
          </a:p>
        </p:txBody>
      </p:sp>
      <p:sp>
        <p:nvSpPr>
          <p:cNvPr id="13" name="Shape 11"/>
          <p:cNvSpPr/>
          <p:nvPr/>
        </p:nvSpPr>
        <p:spPr>
          <a:xfrm>
            <a:off x="640080" y="3657600"/>
            <a:ext cx="3520440" cy="2240280"/>
          </a:xfrm>
          <a:prstGeom prst="roundRect">
            <a:avLst>
              <a:gd name="adj" fmla="val 3673"/>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4" name="Text 12"/>
          <p:cNvSpPr/>
          <p:nvPr/>
        </p:nvSpPr>
        <p:spPr>
          <a:xfrm>
            <a:off x="914400" y="3886200"/>
            <a:ext cx="2971800" cy="548640"/>
          </a:xfrm>
          <a:prstGeom prst="rect">
            <a:avLst/>
          </a:prstGeom>
          <a:noFill/>
          <a:ln/>
        </p:spPr>
        <p:txBody>
          <a:bodyPr wrap="square" lIns="0" tIns="0" rIns="0" bIns="0" rtlCol="0" anchor="ctr"/>
          <a:lstStyle/>
          <a:p>
            <a:pPr indent="0" marL="0">
              <a:buNone/>
            </a:pPr>
            <a:r>
              <a:rPr lang="en-US" sz="1600" b="1" dirty="0">
                <a:solidFill>
                  <a:srgbClr val="0A5560"/>
                </a:solidFill>
                <a:latin typeface="Calibri" pitchFamily="34" charset="0"/>
                <a:ea typeface="Calibri" pitchFamily="34" charset="-122"/>
                <a:cs typeface="Calibri" pitchFamily="34" charset="-120"/>
              </a:rPr>
              <a:t>A lesson isn’t an absence</a:t>
            </a:r>
            <a:endParaRPr lang="en-US" sz="1600" dirty="0"/>
          </a:p>
        </p:txBody>
      </p:sp>
      <p:sp>
        <p:nvSpPr>
          <p:cNvPr id="15" name="Text 13"/>
          <p:cNvSpPr/>
          <p:nvPr/>
        </p:nvSpPr>
        <p:spPr>
          <a:xfrm>
            <a:off x="914400" y="4434840"/>
            <a:ext cx="2971800" cy="128016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You give the time window and a reason — required. Now the empty chair is documented.</a:t>
            </a:r>
            <a:endParaRPr lang="en-US" sz="1350" dirty="0"/>
          </a:p>
        </p:txBody>
      </p:sp>
      <p:sp>
        <p:nvSpPr>
          <p:cNvPr id="16" name="Shape 14"/>
          <p:cNvSpPr/>
          <p:nvPr/>
        </p:nvSpPr>
        <p:spPr>
          <a:xfrm>
            <a:off x="4544568" y="3657600"/>
            <a:ext cx="3520440" cy="2240280"/>
          </a:xfrm>
          <a:prstGeom prst="roundRect">
            <a:avLst>
              <a:gd name="adj" fmla="val 3673"/>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7" name="Text 15"/>
          <p:cNvSpPr/>
          <p:nvPr/>
        </p:nvSpPr>
        <p:spPr>
          <a:xfrm>
            <a:off x="4818888" y="3886200"/>
            <a:ext cx="2971800" cy="548640"/>
          </a:xfrm>
          <a:prstGeom prst="rect">
            <a:avLst/>
          </a:prstGeom>
          <a:noFill/>
          <a:ln/>
        </p:spPr>
        <p:txBody>
          <a:bodyPr wrap="square" lIns="0" tIns="0" rIns="0" bIns="0" rtlCol="0" anchor="ctr"/>
          <a:lstStyle/>
          <a:p>
            <a:pPr indent="0" marL="0">
              <a:buNone/>
            </a:pPr>
            <a:r>
              <a:rPr lang="en-US" sz="1600" b="1" dirty="0">
                <a:solidFill>
                  <a:srgbClr val="0A5560"/>
                </a:solidFill>
                <a:latin typeface="Calibri" pitchFamily="34" charset="0"/>
                <a:ea typeface="Calibri" pitchFamily="34" charset="-122"/>
                <a:cs typeface="Calibri" pitchFamily="34" charset="-120"/>
              </a:rPr>
              <a:t>It watches while you work</a:t>
            </a:r>
            <a:endParaRPr lang="en-US" sz="1600" dirty="0"/>
          </a:p>
        </p:txBody>
      </p:sp>
      <p:sp>
        <p:nvSpPr>
          <p:cNvPr id="18" name="Text 16"/>
          <p:cNvSpPr/>
          <p:nvPr/>
        </p:nvSpPr>
        <p:spPr>
          <a:xfrm>
            <a:off x="4818888" y="4434840"/>
            <a:ext cx="2971800" cy="128016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How late they were. Their last five rehearsals, as dots. Absences a parent reported ahead. A warning if every trumpet is out.</a:t>
            </a:r>
            <a:endParaRPr lang="en-US" sz="1350" dirty="0"/>
          </a:p>
        </p:txBody>
      </p:sp>
      <p:sp>
        <p:nvSpPr>
          <p:cNvPr id="19" name="Shape 17"/>
          <p:cNvSpPr/>
          <p:nvPr/>
        </p:nvSpPr>
        <p:spPr>
          <a:xfrm>
            <a:off x="8449056" y="3657600"/>
            <a:ext cx="3520440" cy="2240280"/>
          </a:xfrm>
          <a:prstGeom prst="roundRect">
            <a:avLst>
              <a:gd name="adj" fmla="val 3673"/>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20" name="Text 18"/>
          <p:cNvSpPr/>
          <p:nvPr/>
        </p:nvSpPr>
        <p:spPr>
          <a:xfrm>
            <a:off x="8723376" y="3886200"/>
            <a:ext cx="2971800" cy="548640"/>
          </a:xfrm>
          <a:prstGeom prst="rect">
            <a:avLst/>
          </a:prstGeom>
          <a:noFill/>
          <a:ln/>
        </p:spPr>
        <p:txBody>
          <a:bodyPr wrap="square" lIns="0" tIns="0" rIns="0" bIns="0" rtlCol="0" anchor="ctr"/>
          <a:lstStyle/>
          <a:p>
            <a:pPr indent="0" marL="0">
              <a:buNone/>
            </a:pPr>
            <a:r>
              <a:rPr lang="en-US" sz="1600" b="1" dirty="0">
                <a:solidFill>
                  <a:srgbClr val="0A5560"/>
                </a:solidFill>
                <a:latin typeface="Calibri" pitchFamily="34" charset="0"/>
                <a:ea typeface="Calibri" pitchFamily="34" charset="-122"/>
                <a:cs typeface="Calibri" pitchFamily="34" charset="-120"/>
              </a:rPr>
              <a:t>Finish roll — summary</a:t>
            </a:r>
            <a:endParaRPr lang="en-US" sz="1600" dirty="0"/>
          </a:p>
        </p:txBody>
      </p:sp>
      <p:sp>
        <p:nvSpPr>
          <p:cNvPr id="21" name="Text 19"/>
          <p:cNvSpPr/>
          <p:nvPr/>
        </p:nvSpPr>
        <p:spPr>
          <a:xfrm>
            <a:off x="8723376" y="4434840"/>
            <a:ext cx="2971800" cy="128016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Who’s out, one tap to call or email home, and a clean list to copy.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272E"/>
        </a:solidFill>
      </p:bgPr>
    </p:bg>
    <p:spTree>
      <p:nvGrpSpPr>
        <p:cNvPr id="1" name=""/>
        <p:cNvGrpSpPr/>
        <p:nvPr/>
      </p:nvGrpSpPr>
      <p:grpSpPr>
        <a:xfrm>
          <a:off x="0" y="0"/>
          <a:ext cx="0" cy="0"/>
          <a:chOff x="0" y="0"/>
          <a:chExt cx="0" cy="0"/>
        </a:xfrm>
      </p:grpSpPr>
      <p:sp>
        <p:nvSpPr>
          <p:cNvPr id="2" name="Text 0"/>
          <p:cNvSpPr/>
          <p:nvPr/>
        </p:nvSpPr>
        <p:spPr>
          <a:xfrm>
            <a:off x="640080" y="502920"/>
            <a:ext cx="10911535" cy="274320"/>
          </a:xfrm>
          <a:prstGeom prst="rect">
            <a:avLst/>
          </a:prstGeom>
          <a:noFill/>
          <a:ln/>
        </p:spPr>
        <p:txBody>
          <a:bodyPr wrap="square" lIns="0" tIns="0" rIns="0" bIns="0" rtlCol="0" anchor="ctr"/>
          <a:lstStyle/>
          <a:p>
            <a:pPr indent="0" marL="0">
              <a:buNone/>
            </a:pPr>
            <a:r>
              <a:rPr lang="en-US" sz="1200" b="1" spc="200" kern="0" dirty="0">
                <a:solidFill>
                  <a:srgbClr val="7FC3CD"/>
                </a:solidFill>
                <a:latin typeface="Calibri" pitchFamily="34" charset="0"/>
                <a:ea typeface="Calibri" pitchFamily="34" charset="-122"/>
                <a:cs typeface="Calibri" pitchFamily="34" charset="-120"/>
              </a:rPr>
              <a:t>WHY THAT’S FASTER</a:t>
            </a:r>
            <a:endParaRPr lang="en-US" sz="1200" dirty="0"/>
          </a:p>
        </p:txBody>
      </p:sp>
      <p:sp>
        <p:nvSpPr>
          <p:cNvPr id="3" name="Text 1"/>
          <p:cNvSpPr/>
          <p:nvPr/>
        </p:nvSpPr>
        <p:spPr>
          <a:xfrm>
            <a:off x="640080" y="1554480"/>
            <a:ext cx="5394960" cy="1463040"/>
          </a:xfrm>
          <a:prstGeom prst="rect">
            <a:avLst/>
          </a:prstGeom>
          <a:noFill/>
          <a:ln/>
        </p:spPr>
        <p:txBody>
          <a:bodyPr wrap="square" lIns="0" tIns="0" rIns="0" bIns="0" rtlCol="0" anchor="ctr"/>
          <a:lstStyle/>
          <a:p>
            <a:pPr indent="0" marL="0">
              <a:lnSpc>
                <a:spcPts val="4200"/>
              </a:lnSpc>
              <a:buNone/>
            </a:pPr>
            <a:r>
              <a:rPr lang="en-US" sz="2700" dirty="0">
                <a:solidFill>
                  <a:srgbClr val="9FD2DA"/>
                </a:solidFill>
                <a:latin typeface="Calibri" pitchFamily="34" charset="0"/>
                <a:ea typeface="Calibri" pitchFamily="34" charset="-122"/>
                <a:cs typeface="Calibri" pitchFamily="34" charset="-120"/>
              </a:rPr>
              <a:t>80 students.</a:t>
            </a:r>
            <a:endParaRPr lang="en-US" sz="2700" dirty="0"/>
          </a:p>
          <a:p>
            <a:pPr indent="0" marL="0">
              <a:lnSpc>
                <a:spcPts val="4200"/>
              </a:lnSpc>
              <a:buNone/>
            </a:pPr>
            <a:r>
              <a:rPr lang="en-US" sz="2700" dirty="0">
                <a:solidFill>
                  <a:srgbClr val="9FD2DA"/>
                </a:solidFill>
                <a:latin typeface="Calibri" pitchFamily="34" charset="0"/>
                <a:ea typeface="Calibri" pitchFamily="34" charset="-122"/>
                <a:cs typeface="Calibri" pitchFamily="34" charset="-120"/>
              </a:rPr>
              <a:t>4 of them out.</a:t>
            </a:r>
            <a:endParaRPr lang="en-US" sz="2700" dirty="0"/>
          </a:p>
        </p:txBody>
      </p:sp>
      <p:sp>
        <p:nvSpPr>
          <p:cNvPr id="4" name="Text 2"/>
          <p:cNvSpPr/>
          <p:nvPr/>
        </p:nvSpPr>
        <p:spPr>
          <a:xfrm>
            <a:off x="640080" y="3017520"/>
            <a:ext cx="5394960" cy="1463040"/>
          </a:xfrm>
          <a:prstGeom prst="rect">
            <a:avLst/>
          </a:prstGeom>
          <a:noFill/>
          <a:ln/>
        </p:spPr>
        <p:txBody>
          <a:bodyPr wrap="square" lIns="0" tIns="0" rIns="0" bIns="0" rtlCol="0" anchor="ctr"/>
          <a:lstStyle/>
          <a:p>
            <a:pPr indent="0" marL="0">
              <a:buNone/>
            </a:pPr>
            <a:r>
              <a:rPr lang="en-US" sz="9600" b="1" dirty="0">
                <a:solidFill>
                  <a:srgbClr val="FFFFFF"/>
                </a:solidFill>
                <a:latin typeface="Cambria" pitchFamily="34" charset="0"/>
                <a:ea typeface="Cambria" pitchFamily="34" charset="-122"/>
                <a:cs typeface="Cambria" pitchFamily="34" charset="-120"/>
              </a:rPr>
              <a:t>4 taps</a:t>
            </a:r>
            <a:endParaRPr lang="en-US" sz="9600" dirty="0"/>
          </a:p>
        </p:txBody>
      </p:sp>
      <p:sp>
        <p:nvSpPr>
          <p:cNvPr id="5" name="Text 3"/>
          <p:cNvSpPr/>
          <p:nvPr/>
        </p:nvSpPr>
        <p:spPr>
          <a:xfrm>
            <a:off x="640080" y="4617720"/>
            <a:ext cx="5394960" cy="365760"/>
          </a:xfrm>
          <a:prstGeom prst="rect">
            <a:avLst/>
          </a:prstGeom>
          <a:noFill/>
          <a:ln/>
        </p:spPr>
        <p:txBody>
          <a:bodyPr wrap="square" lIns="0" tIns="0" rIns="0" bIns="0" rtlCol="0" anchor="ctr"/>
          <a:lstStyle/>
          <a:p>
            <a:pPr indent="0" marL="0">
              <a:buNone/>
            </a:pPr>
            <a:r>
              <a:rPr lang="en-US" sz="1700" i="1" dirty="0">
                <a:solidFill>
                  <a:srgbClr val="B8862B"/>
                </a:solidFill>
                <a:latin typeface="Calibri" pitchFamily="34" charset="0"/>
                <a:ea typeface="Calibri" pitchFamily="34" charset="-122"/>
                <a:cs typeface="Calibri" pitchFamily="34" charset="-120"/>
              </a:rPr>
              <a:t>Nobody out is zero taps.</a:t>
            </a:r>
            <a:endParaRPr lang="en-US" sz="1700" dirty="0"/>
          </a:p>
        </p:txBody>
      </p:sp>
      <p:sp>
        <p:nvSpPr>
          <p:cNvPr id="6" name="Text 4"/>
          <p:cNvSpPr/>
          <p:nvPr/>
        </p:nvSpPr>
        <p:spPr>
          <a:xfrm>
            <a:off x="6583680" y="1554480"/>
            <a:ext cx="4967935" cy="1737360"/>
          </a:xfrm>
          <a:prstGeom prst="rect">
            <a:avLst/>
          </a:prstGeom>
          <a:noFill/>
          <a:ln/>
        </p:spPr>
        <p:txBody>
          <a:bodyPr wrap="square" lIns="0" tIns="0" rIns="0" bIns="0" rtlCol="0" anchor="ctr"/>
          <a:lstStyle/>
          <a:p>
            <a:pPr indent="0" marL="0">
              <a:lnSpc>
                <a:spcPts val="3000"/>
              </a:lnSpc>
              <a:buNone/>
            </a:pPr>
            <a:r>
              <a:rPr lang="en-US" sz="1800" dirty="0">
                <a:solidFill>
                  <a:srgbClr val="CFE6EA"/>
                </a:solidFill>
                <a:latin typeface="Calibri" pitchFamily="34" charset="0"/>
                <a:ea typeface="Calibri" pitchFamily="34" charset="-122"/>
                <a:cs typeface="Calibri" pitchFamily="34" charset="-120"/>
              </a:rPr>
              <a:t>Most systems make the work grow with the size of your ensemble — eighty students, eighty marks, every day, whether or not anything happened.</a:t>
            </a:r>
            <a:endParaRPr lang="en-US" sz="1800" dirty="0"/>
          </a:p>
        </p:txBody>
      </p:sp>
      <p:sp>
        <p:nvSpPr>
          <p:cNvPr id="7" name="Shape 5"/>
          <p:cNvSpPr/>
          <p:nvPr/>
        </p:nvSpPr>
        <p:spPr>
          <a:xfrm>
            <a:off x="6583680" y="3429000"/>
            <a:ext cx="4967935" cy="1143000"/>
          </a:xfrm>
          <a:prstGeom prst="roundRect">
            <a:avLst>
              <a:gd name="adj" fmla="val 8000"/>
            </a:avLst>
          </a:prstGeom>
          <a:solidFill>
            <a:srgbClr val="143840"/>
          </a:solidFill>
          <a:ln w="12700">
            <a:solidFill>
              <a:srgbClr val="2C5A64"/>
            </a:solidFill>
            <a:prstDash val="solid"/>
          </a:ln>
        </p:spPr>
      </p:sp>
      <p:sp>
        <p:nvSpPr>
          <p:cNvPr id="8" name="Text 6"/>
          <p:cNvSpPr/>
          <p:nvPr/>
        </p:nvSpPr>
        <p:spPr>
          <a:xfrm>
            <a:off x="6858000" y="3566160"/>
            <a:ext cx="4419295" cy="9144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Here the work grows with the number of absences — not with the size of the room.</a:t>
            </a:r>
            <a:endParaRPr lang="en-US" sz="1700" dirty="0"/>
          </a:p>
        </p:txBody>
      </p:sp>
      <p:sp>
        <p:nvSpPr>
          <p:cNvPr id="9" name="Text 7"/>
          <p:cNvSpPr/>
          <p:nvPr/>
        </p:nvSpPr>
        <p:spPr>
          <a:xfrm>
            <a:off x="6583680" y="4800600"/>
            <a:ext cx="4967935" cy="1097280"/>
          </a:xfrm>
          <a:prstGeom prst="rect">
            <a:avLst/>
          </a:prstGeom>
          <a:noFill/>
          <a:ln/>
        </p:spPr>
        <p:txBody>
          <a:bodyPr wrap="square" lIns="0" tIns="0" rIns="0" bIns="0" rtlCol="0" anchor="ctr"/>
          <a:lstStyle/>
          <a:p>
            <a:pPr indent="0" marL="0">
              <a:buNone/>
            </a:pPr>
            <a:r>
              <a:rPr lang="en-US" sz="1400" i="1" dirty="0">
                <a:solidFill>
                  <a:srgbClr val="8FB9C1"/>
                </a:solidFill>
                <a:latin typeface="Calibri" pitchFamily="34" charset="0"/>
                <a:ea typeface="Calibri" pitchFamily="34" charset="-122"/>
                <a:cs typeface="Calibri" pitchFamily="34" charset="-120"/>
              </a:rPr>
              <a:t>I have not timed the old way against the new way, so I’m not claiming a number of minutes. What changed is the shape of the work — and that it finishes in the room.</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AFTER THE TAPS</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Four things you get for free</a:t>
            </a:r>
            <a:endParaRPr lang="en-US" sz="3600" dirty="0"/>
          </a:p>
        </p:txBody>
      </p:sp>
      <p:sp>
        <p:nvSpPr>
          <p:cNvPr id="4" name="Shape 2"/>
          <p:cNvSpPr/>
          <p:nvPr/>
        </p:nvSpPr>
        <p:spPr>
          <a:xfrm>
            <a:off x="640080" y="1783080"/>
            <a:ext cx="5394960" cy="1691640"/>
          </a:xfrm>
          <a:prstGeom prst="roundRect">
            <a:avLst>
              <a:gd name="adj" fmla="val 4865"/>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Shape 3"/>
          <p:cNvSpPr/>
          <p:nvPr/>
        </p:nvSpPr>
        <p:spPr>
          <a:xfrm>
            <a:off x="932688" y="2057400"/>
            <a:ext cx="402336" cy="402336"/>
          </a:xfrm>
          <a:prstGeom prst="ellipse">
            <a:avLst/>
          </a:prstGeom>
          <a:solidFill>
            <a:srgbClr val="0D7E8E"/>
          </a:solidFill>
          <a:ln/>
        </p:spPr>
      </p:sp>
      <p:sp>
        <p:nvSpPr>
          <p:cNvPr id="6" name="Text 4"/>
          <p:cNvSpPr/>
          <p:nvPr/>
        </p:nvSpPr>
        <p:spPr>
          <a:xfrm>
            <a:off x="932688" y="2057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2039112"/>
            <a:ext cx="4251960" cy="36576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Receipt</a:t>
            </a:r>
            <a:endParaRPr lang="en-US" sz="1900" dirty="0"/>
          </a:p>
        </p:txBody>
      </p:sp>
      <p:sp>
        <p:nvSpPr>
          <p:cNvPr id="8" name="Text 6"/>
          <p:cNvSpPr/>
          <p:nvPr/>
        </p:nvSpPr>
        <p:spPr>
          <a:xfrm>
            <a:off x="1481328" y="2441448"/>
            <a:ext cx="4251960" cy="77724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The event records when roll was taken, and by whom. “Did Tuesday get done?” is a glance, not a reconstruction.</a:t>
            </a:r>
            <a:endParaRPr lang="en-US" sz="1350" dirty="0"/>
          </a:p>
        </p:txBody>
      </p:sp>
      <p:sp>
        <p:nvSpPr>
          <p:cNvPr id="9" name="Shape 7"/>
          <p:cNvSpPr/>
          <p:nvPr/>
        </p:nvSpPr>
        <p:spPr>
          <a:xfrm>
            <a:off x="6156655" y="1783080"/>
            <a:ext cx="5394960" cy="1691640"/>
          </a:xfrm>
          <a:prstGeom prst="roundRect">
            <a:avLst>
              <a:gd name="adj" fmla="val 4865"/>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0" name="Shape 8"/>
          <p:cNvSpPr/>
          <p:nvPr/>
        </p:nvSpPr>
        <p:spPr>
          <a:xfrm>
            <a:off x="6449263" y="2057400"/>
            <a:ext cx="402336" cy="402336"/>
          </a:xfrm>
          <a:prstGeom prst="ellipse">
            <a:avLst/>
          </a:prstGeom>
          <a:solidFill>
            <a:srgbClr val="0D7E8E"/>
          </a:solidFill>
          <a:ln/>
        </p:spPr>
      </p:sp>
      <p:sp>
        <p:nvSpPr>
          <p:cNvPr id="11" name="Text 9"/>
          <p:cNvSpPr/>
          <p:nvPr/>
        </p:nvSpPr>
        <p:spPr>
          <a:xfrm>
            <a:off x="6449263" y="2057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997903" y="2039112"/>
            <a:ext cx="4251960" cy="36576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Pattern</a:t>
            </a:r>
            <a:endParaRPr lang="en-US" sz="1900" dirty="0"/>
          </a:p>
        </p:txBody>
      </p:sp>
      <p:sp>
        <p:nvSpPr>
          <p:cNvPr id="13" name="Text 11"/>
          <p:cNvSpPr/>
          <p:nvPr/>
        </p:nvSpPr>
        <p:spPr>
          <a:xfrm>
            <a:off x="6997903" y="2441448"/>
            <a:ext cx="4251960" cy="77724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Each student’s last five rehearsals, as dots, right on the roll screen. A pattern is visible without looking anything up.</a:t>
            </a:r>
            <a:endParaRPr lang="en-US" sz="1350" dirty="0"/>
          </a:p>
        </p:txBody>
      </p:sp>
      <p:sp>
        <p:nvSpPr>
          <p:cNvPr id="14" name="Shape 12"/>
          <p:cNvSpPr/>
          <p:nvPr/>
        </p:nvSpPr>
        <p:spPr>
          <a:xfrm>
            <a:off x="640080" y="3767328"/>
            <a:ext cx="5394960" cy="1691640"/>
          </a:xfrm>
          <a:prstGeom prst="roundRect">
            <a:avLst>
              <a:gd name="adj" fmla="val 4865"/>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5" name="Shape 13"/>
          <p:cNvSpPr/>
          <p:nvPr/>
        </p:nvSpPr>
        <p:spPr>
          <a:xfrm>
            <a:off x="932688" y="4041648"/>
            <a:ext cx="402336" cy="402336"/>
          </a:xfrm>
          <a:prstGeom prst="ellipse">
            <a:avLst/>
          </a:prstGeom>
          <a:solidFill>
            <a:srgbClr val="0D7E8E"/>
          </a:solidFill>
          <a:ln/>
        </p:spPr>
      </p:sp>
      <p:sp>
        <p:nvSpPr>
          <p:cNvPr id="16" name="Text 14"/>
          <p:cNvSpPr/>
          <p:nvPr/>
        </p:nvSpPr>
        <p:spPr>
          <a:xfrm>
            <a:off x="932688" y="4041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81328" y="4023360"/>
            <a:ext cx="4251960" cy="36576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Follow-up queue</a:t>
            </a:r>
            <a:endParaRPr lang="en-US" sz="1900" dirty="0"/>
          </a:p>
        </p:txBody>
      </p:sp>
      <p:sp>
        <p:nvSpPr>
          <p:cNvPr id="18" name="Text 16"/>
          <p:cNvSpPr/>
          <p:nvPr/>
        </p:nvSpPr>
        <p:spPr>
          <a:xfrm>
            <a:off x="1481328" y="4425696"/>
            <a:ext cx="4251960" cy="77724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Unexcused absences from the past week collect in one place. Clear each with Excuse, Contacted, or Dismiss — a queue meant to reach empty.</a:t>
            </a:r>
            <a:endParaRPr lang="en-US" sz="1350" dirty="0"/>
          </a:p>
        </p:txBody>
      </p:sp>
      <p:sp>
        <p:nvSpPr>
          <p:cNvPr id="19" name="Shape 17"/>
          <p:cNvSpPr/>
          <p:nvPr/>
        </p:nvSpPr>
        <p:spPr>
          <a:xfrm>
            <a:off x="6156655" y="3767328"/>
            <a:ext cx="5394960" cy="1691640"/>
          </a:xfrm>
          <a:prstGeom prst="roundRect">
            <a:avLst>
              <a:gd name="adj" fmla="val 4865"/>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20" name="Shape 18"/>
          <p:cNvSpPr/>
          <p:nvPr/>
        </p:nvSpPr>
        <p:spPr>
          <a:xfrm>
            <a:off x="6449263" y="4041648"/>
            <a:ext cx="402336" cy="402336"/>
          </a:xfrm>
          <a:prstGeom prst="ellipse">
            <a:avLst/>
          </a:prstGeom>
          <a:solidFill>
            <a:srgbClr val="0D7E8E"/>
          </a:solidFill>
          <a:ln/>
        </p:spPr>
      </p:sp>
      <p:sp>
        <p:nvSpPr>
          <p:cNvPr id="21" name="Text 19"/>
          <p:cNvSpPr/>
          <p:nvPr/>
        </p:nvSpPr>
        <p:spPr>
          <a:xfrm>
            <a:off x="6449263" y="4041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6997903" y="4023360"/>
            <a:ext cx="4251960" cy="36576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Export</a:t>
            </a:r>
            <a:endParaRPr lang="en-US" sz="1900" dirty="0"/>
          </a:p>
        </p:txBody>
      </p:sp>
      <p:sp>
        <p:nvSpPr>
          <p:cNvPr id="23" name="Text 21"/>
          <p:cNvSpPr/>
          <p:nvPr/>
        </p:nvSpPr>
        <p:spPr>
          <a:xfrm>
            <a:off x="6997903" y="4425696"/>
            <a:ext cx="4251960" cy="77724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The attendance you want as a spreadsheet file, whenever somebody needs it in writing.</a:t>
            </a:r>
            <a:endParaRPr lang="en-US" sz="1350" dirty="0"/>
          </a:p>
        </p:txBody>
      </p:sp>
      <p:sp>
        <p:nvSpPr>
          <p:cNvPr id="24" name="Shape 22"/>
          <p:cNvSpPr/>
          <p:nvPr/>
        </p:nvSpPr>
        <p:spPr>
          <a:xfrm>
            <a:off x="640080" y="5349240"/>
            <a:ext cx="10911535" cy="658368"/>
          </a:xfrm>
          <a:prstGeom prst="roundRect">
            <a:avLst>
              <a:gd name="adj" fmla="val 13889"/>
            </a:avLst>
          </a:prstGeom>
          <a:solidFill>
            <a:srgbClr val="FBF4E3"/>
          </a:solidFill>
          <a:ln w="12700">
            <a:solidFill>
              <a:srgbClr val="E8D9B0"/>
            </a:solidFill>
            <a:prstDash val="solid"/>
          </a:ln>
        </p:spPr>
      </p:sp>
      <p:sp>
        <p:nvSpPr>
          <p:cNvPr id="25" name="Text 23"/>
          <p:cNvSpPr/>
          <p:nvPr/>
        </p:nvSpPr>
        <p:spPr>
          <a:xfrm>
            <a:off x="914400" y="5349240"/>
            <a:ext cx="10362895" cy="658368"/>
          </a:xfrm>
          <a:prstGeom prst="rect">
            <a:avLst/>
          </a:prstGeom>
          <a:noFill/>
          <a:ln/>
        </p:spPr>
        <p:txBody>
          <a:bodyPr wrap="square" lIns="0" tIns="0" rIns="0" bIns="0" rtlCol="0" anchor="ctr"/>
          <a:lstStyle/>
          <a:p>
            <a:pPr indent="0" marL="0">
              <a:buNone/>
            </a:pPr>
            <a:r>
              <a:rPr lang="en-US" sz="1600" b="1" dirty="0">
                <a:solidFill>
                  <a:srgbClr val="5A4A22"/>
                </a:solidFill>
                <a:latin typeface="Calibri" pitchFamily="34" charset="0"/>
                <a:ea typeface="Calibri" pitchFamily="34" charset="-122"/>
                <a:cs typeface="Calibri" pitchFamily="34" charset="-120"/>
              </a:rPr>
              <a:t>Questions — before I move on from roll, because it’s the thing you’ll do every day.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SCHEDULE CHANGE</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When the day changes</a:t>
            </a:r>
            <a:endParaRPr lang="en-US" sz="3600" dirty="0"/>
          </a:p>
        </p:txBody>
      </p:sp>
      <p:sp>
        <p:nvSpPr>
          <p:cNvPr id="4" name="Shape 2"/>
          <p:cNvSpPr/>
          <p:nvPr/>
        </p:nvSpPr>
        <p:spPr>
          <a:xfrm>
            <a:off x="640080" y="1737360"/>
            <a:ext cx="2651760" cy="731520"/>
          </a:xfrm>
          <a:prstGeom prst="roundRect">
            <a:avLst>
              <a:gd name="adj" fmla="val 12500"/>
            </a:avLst>
          </a:prstGeom>
          <a:solidFill>
            <a:srgbClr val="0A5560"/>
          </a:solidFill>
          <a:ln w="12700">
            <a:solidFill>
              <a:srgbClr val="0A5560"/>
            </a:solidFill>
            <a:prstDash val="solid"/>
          </a:ln>
        </p:spPr>
      </p:sp>
      <p:sp>
        <p:nvSpPr>
          <p:cNvPr id="5" name="Text 3"/>
          <p:cNvSpPr/>
          <p:nvPr/>
        </p:nvSpPr>
        <p:spPr>
          <a:xfrm>
            <a:off x="640080" y="1737360"/>
            <a:ext cx="265176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Swap two blocks</a:t>
            </a:r>
            <a:endParaRPr lang="en-US" sz="1600" dirty="0"/>
          </a:p>
        </p:txBody>
      </p:sp>
      <p:sp>
        <p:nvSpPr>
          <p:cNvPr id="6" name="Shape 4"/>
          <p:cNvSpPr/>
          <p:nvPr/>
        </p:nvSpPr>
        <p:spPr>
          <a:xfrm>
            <a:off x="3393338" y="1737360"/>
            <a:ext cx="2651760" cy="731520"/>
          </a:xfrm>
          <a:prstGeom prst="roundRect">
            <a:avLst>
              <a:gd name="adj" fmla="val 12500"/>
            </a:avLst>
          </a:prstGeom>
          <a:solidFill>
            <a:srgbClr val="0A5560"/>
          </a:solidFill>
          <a:ln w="12700">
            <a:solidFill>
              <a:srgbClr val="0A5560"/>
            </a:solidFill>
            <a:prstDash val="solid"/>
          </a:ln>
        </p:spPr>
      </p:sp>
      <p:sp>
        <p:nvSpPr>
          <p:cNvPr id="7" name="Text 5"/>
          <p:cNvSpPr/>
          <p:nvPr/>
        </p:nvSpPr>
        <p:spPr>
          <a:xfrm>
            <a:off x="3393338" y="1737360"/>
            <a:ext cx="265176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Shift a time</a:t>
            </a:r>
            <a:endParaRPr lang="en-US" sz="1600" dirty="0"/>
          </a:p>
        </p:txBody>
      </p:sp>
      <p:sp>
        <p:nvSpPr>
          <p:cNvPr id="8" name="Shape 6"/>
          <p:cNvSpPr/>
          <p:nvPr/>
        </p:nvSpPr>
        <p:spPr>
          <a:xfrm>
            <a:off x="6146597" y="1737360"/>
            <a:ext cx="2651760" cy="731520"/>
          </a:xfrm>
          <a:prstGeom prst="roundRect">
            <a:avLst>
              <a:gd name="adj" fmla="val 12500"/>
            </a:avLst>
          </a:prstGeom>
          <a:solidFill>
            <a:srgbClr val="0A5560"/>
          </a:solidFill>
          <a:ln w="12700">
            <a:solidFill>
              <a:srgbClr val="0A5560"/>
            </a:solidFill>
            <a:prstDash val="solid"/>
          </a:ln>
        </p:spPr>
      </p:sp>
      <p:sp>
        <p:nvSpPr>
          <p:cNvPr id="9" name="Text 7"/>
          <p:cNvSpPr/>
          <p:nvPr/>
        </p:nvSpPr>
        <p:spPr>
          <a:xfrm>
            <a:off x="6146597" y="1737360"/>
            <a:ext cx="265176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Move the room</a:t>
            </a:r>
            <a:endParaRPr lang="en-US" sz="1600" dirty="0"/>
          </a:p>
        </p:txBody>
      </p:sp>
      <p:sp>
        <p:nvSpPr>
          <p:cNvPr id="10" name="Shape 8"/>
          <p:cNvSpPr/>
          <p:nvPr/>
        </p:nvSpPr>
        <p:spPr>
          <a:xfrm>
            <a:off x="8899855" y="1737360"/>
            <a:ext cx="2651760" cy="731520"/>
          </a:xfrm>
          <a:prstGeom prst="roundRect">
            <a:avLst>
              <a:gd name="adj" fmla="val 12500"/>
            </a:avLst>
          </a:prstGeom>
          <a:solidFill>
            <a:srgbClr val="0A5560"/>
          </a:solidFill>
          <a:ln w="12700">
            <a:solidFill>
              <a:srgbClr val="0A5560"/>
            </a:solidFill>
            <a:prstDash val="solid"/>
          </a:ln>
        </p:spPr>
      </p:sp>
      <p:sp>
        <p:nvSpPr>
          <p:cNvPr id="11" name="Text 9"/>
          <p:cNvSpPr/>
          <p:nvPr/>
        </p:nvSpPr>
        <p:spPr>
          <a:xfrm>
            <a:off x="8899855" y="1737360"/>
            <a:ext cx="2651760" cy="7315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Cancel it</a:t>
            </a:r>
            <a:endParaRPr lang="en-US" sz="1600" dirty="0"/>
          </a:p>
        </p:txBody>
      </p:sp>
      <p:sp>
        <p:nvSpPr>
          <p:cNvPr id="12" name="Text 10"/>
          <p:cNvSpPr/>
          <p:nvPr/>
        </p:nvSpPr>
        <p:spPr>
          <a:xfrm>
            <a:off x="640080" y="2697480"/>
            <a:ext cx="10911535" cy="365760"/>
          </a:xfrm>
          <a:prstGeom prst="rect">
            <a:avLst/>
          </a:prstGeom>
          <a:noFill/>
          <a:ln/>
        </p:spPr>
        <p:txBody>
          <a:bodyPr wrap="square" lIns="0" tIns="0" rIns="0" bIns="0" rtlCol="0" anchor="ctr"/>
          <a:lstStyle/>
          <a:p>
            <a:pPr indent="0" marL="0">
              <a:buNone/>
            </a:pPr>
            <a:r>
              <a:rPr lang="en-US" sz="1700" b="1" dirty="0">
                <a:solidFill>
                  <a:srgbClr val="17272B"/>
                </a:solidFill>
                <a:latin typeface="Calibri" pitchFamily="34" charset="0"/>
                <a:ea typeface="Calibri" pitchFamily="34" charset="-122"/>
                <a:cs typeface="Calibri" pitchFamily="34" charset="-120"/>
              </a:rPr>
              <a:t>One edit. Then, without you doing anything else:</a:t>
            </a:r>
            <a:endParaRPr lang="en-US" sz="1700" dirty="0"/>
          </a:p>
        </p:txBody>
      </p:sp>
      <p:sp>
        <p:nvSpPr>
          <p:cNvPr id="13" name="Shape 11"/>
          <p:cNvSpPr/>
          <p:nvPr/>
        </p:nvSpPr>
        <p:spPr>
          <a:xfrm>
            <a:off x="640080" y="3154680"/>
            <a:ext cx="3520440" cy="1051560"/>
          </a:xfrm>
          <a:prstGeom prst="roundRect">
            <a:avLst>
              <a:gd name="adj" fmla="val 7826"/>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4" name="Text 12"/>
          <p:cNvSpPr/>
          <p:nvPr/>
        </p:nvSpPr>
        <p:spPr>
          <a:xfrm>
            <a:off x="896112" y="3291840"/>
            <a:ext cx="3008376" cy="347472"/>
          </a:xfrm>
          <a:prstGeom prst="rect">
            <a:avLst/>
          </a:prstGeom>
          <a:noFill/>
          <a:ln/>
        </p:spPr>
        <p:txBody>
          <a:bodyPr wrap="square" lIns="0" tIns="0" rIns="0" bIns="0" rtlCol="0" anchor="ctr"/>
          <a:lstStyle/>
          <a:p>
            <a:pPr indent="0" marL="0">
              <a:buNone/>
            </a:pPr>
            <a:r>
              <a:rPr lang="en-US" sz="1650" b="1" dirty="0">
                <a:solidFill>
                  <a:srgbClr val="0A5560"/>
                </a:solidFill>
                <a:latin typeface="Calibri" pitchFamily="34" charset="0"/>
                <a:ea typeface="Calibri" pitchFamily="34" charset="-122"/>
                <a:cs typeface="Calibri" pitchFamily="34" charset="-120"/>
              </a:rPr>
              <a:t>Tagged as changed</a:t>
            </a:r>
            <a:endParaRPr lang="en-US" sz="1650" dirty="0"/>
          </a:p>
        </p:txBody>
      </p:sp>
      <p:sp>
        <p:nvSpPr>
          <p:cNvPr id="15" name="Text 13"/>
          <p:cNvSpPr/>
          <p:nvPr/>
        </p:nvSpPr>
        <p:spPr>
          <a:xfrm>
            <a:off x="896112" y="3639312"/>
            <a:ext cx="3008376" cy="36576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on the event itself</a:t>
            </a:r>
            <a:endParaRPr lang="en-US" sz="1350" dirty="0"/>
          </a:p>
        </p:txBody>
      </p:sp>
      <p:sp>
        <p:nvSpPr>
          <p:cNvPr id="16" name="Shape 14"/>
          <p:cNvSpPr/>
          <p:nvPr/>
        </p:nvSpPr>
        <p:spPr>
          <a:xfrm>
            <a:off x="4544568" y="3154680"/>
            <a:ext cx="3520440" cy="1051560"/>
          </a:xfrm>
          <a:prstGeom prst="roundRect">
            <a:avLst>
              <a:gd name="adj" fmla="val 7826"/>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7" name="Text 15"/>
          <p:cNvSpPr/>
          <p:nvPr/>
        </p:nvSpPr>
        <p:spPr>
          <a:xfrm>
            <a:off x="4800600" y="3291840"/>
            <a:ext cx="3008376" cy="347472"/>
          </a:xfrm>
          <a:prstGeom prst="rect">
            <a:avLst/>
          </a:prstGeom>
          <a:noFill/>
          <a:ln/>
        </p:spPr>
        <p:txBody>
          <a:bodyPr wrap="square" lIns="0" tIns="0" rIns="0" bIns="0" rtlCol="0" anchor="ctr"/>
          <a:lstStyle/>
          <a:p>
            <a:pPr indent="0" marL="0">
              <a:buNone/>
            </a:pPr>
            <a:r>
              <a:rPr lang="en-US" sz="1650" b="1" dirty="0">
                <a:solidFill>
                  <a:srgbClr val="0A5560"/>
                </a:solidFill>
                <a:latin typeface="Calibri" pitchFamily="34" charset="0"/>
                <a:ea typeface="Calibri" pitchFamily="34" charset="-122"/>
                <a:cs typeface="Calibri" pitchFamily="34" charset="-120"/>
              </a:rPr>
              <a:t>Red banner</a:t>
            </a:r>
            <a:endParaRPr lang="en-US" sz="1650" dirty="0"/>
          </a:p>
        </p:txBody>
      </p:sp>
      <p:sp>
        <p:nvSpPr>
          <p:cNvPr id="18" name="Text 16"/>
          <p:cNvSpPr/>
          <p:nvPr/>
        </p:nvSpPr>
        <p:spPr>
          <a:xfrm>
            <a:off x="4800600" y="3639312"/>
            <a:ext cx="3008376" cy="36576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on the public front page</a:t>
            </a:r>
            <a:endParaRPr lang="en-US" sz="1350" dirty="0"/>
          </a:p>
        </p:txBody>
      </p:sp>
      <p:sp>
        <p:nvSpPr>
          <p:cNvPr id="19" name="Shape 17"/>
          <p:cNvSpPr/>
          <p:nvPr/>
        </p:nvSpPr>
        <p:spPr>
          <a:xfrm>
            <a:off x="8449056" y="3154680"/>
            <a:ext cx="3520440" cy="1051560"/>
          </a:xfrm>
          <a:prstGeom prst="roundRect">
            <a:avLst>
              <a:gd name="adj" fmla="val 7826"/>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20" name="Text 18"/>
          <p:cNvSpPr/>
          <p:nvPr/>
        </p:nvSpPr>
        <p:spPr>
          <a:xfrm>
            <a:off x="8705088" y="3291840"/>
            <a:ext cx="3008376" cy="347472"/>
          </a:xfrm>
          <a:prstGeom prst="rect">
            <a:avLst/>
          </a:prstGeom>
          <a:noFill/>
          <a:ln/>
        </p:spPr>
        <p:txBody>
          <a:bodyPr wrap="square" lIns="0" tIns="0" rIns="0" bIns="0" rtlCol="0" anchor="ctr"/>
          <a:lstStyle/>
          <a:p>
            <a:pPr indent="0" marL="0">
              <a:buNone/>
            </a:pPr>
            <a:r>
              <a:rPr lang="en-US" sz="1650" b="1" dirty="0">
                <a:solidFill>
                  <a:srgbClr val="0A5560"/>
                </a:solidFill>
                <a:latin typeface="Calibri" pitchFamily="34" charset="0"/>
                <a:ea typeface="Calibri" pitchFamily="34" charset="-122"/>
                <a:cs typeface="Calibri" pitchFamily="34" charset="-120"/>
              </a:rPr>
              <a:t>A notice offered</a:t>
            </a:r>
            <a:endParaRPr lang="en-US" sz="1650" dirty="0"/>
          </a:p>
        </p:txBody>
      </p:sp>
      <p:sp>
        <p:nvSpPr>
          <p:cNvPr id="21" name="Text 19"/>
          <p:cNvSpPr/>
          <p:nvPr/>
        </p:nvSpPr>
        <p:spPr>
          <a:xfrm>
            <a:off x="8705088" y="3639312"/>
            <a:ext cx="3008376" cy="365760"/>
          </a:xfrm>
          <a:prstGeom prst="rect">
            <a:avLst/>
          </a:prstGeom>
          <a:noFill/>
          <a:ln/>
        </p:spPr>
        <p:txBody>
          <a:bodyPr wrap="square" lIns="0" tIns="0" rIns="0" bIns="0" rtlCol="0" anchor="ctr"/>
          <a:lstStyle/>
          <a:p>
            <a:pPr indent="0" marL="0">
              <a:buNone/>
            </a:pPr>
            <a:r>
              <a:rPr lang="en-US" sz="1350" dirty="0">
                <a:solidFill>
                  <a:srgbClr val="5C6E73"/>
                </a:solidFill>
                <a:latin typeface="Calibri" pitchFamily="34" charset="0"/>
                <a:ea typeface="Calibri" pitchFamily="34" charset="-122"/>
                <a:cs typeface="Calibri" pitchFamily="34" charset="-120"/>
              </a:rPr>
              <a:t>posted as an urgent announcement</a:t>
            </a:r>
            <a:endParaRPr lang="en-US" sz="1350" dirty="0"/>
          </a:p>
        </p:txBody>
      </p:sp>
      <p:sp>
        <p:nvSpPr>
          <p:cNvPr id="22" name="Shape 20"/>
          <p:cNvSpPr/>
          <p:nvPr/>
        </p:nvSpPr>
        <p:spPr>
          <a:xfrm>
            <a:off x="640080" y="4434840"/>
            <a:ext cx="10911535" cy="1234440"/>
          </a:xfrm>
          <a:prstGeom prst="roundRect">
            <a:avLst>
              <a:gd name="adj" fmla="val 6667"/>
            </a:avLst>
          </a:prstGeom>
          <a:solidFill>
            <a:srgbClr val="EEF6F7"/>
          </a:solidFill>
          <a:ln w="12700">
            <a:solidFill>
              <a:srgbClr val="C7DEE2"/>
            </a:solidFill>
            <a:prstDash val="solid"/>
          </a:ln>
          <a:effectLst>
            <a:outerShdw sx="100000" sy="100000" kx="0" ky="0" algn="bl" rotWithShape="0" blurRad="127000" dist="25400" dir="5400000">
              <a:srgbClr val="9FB3B7">
                <a:alpha val="28000"/>
              </a:srgbClr>
            </a:outerShdw>
          </a:effectLst>
        </p:spPr>
      </p:sp>
      <p:sp>
        <p:nvSpPr>
          <p:cNvPr id="23" name="Text 21"/>
          <p:cNvSpPr/>
          <p:nvPr/>
        </p:nvSpPr>
        <p:spPr>
          <a:xfrm>
            <a:off x="960120" y="4590288"/>
            <a:ext cx="2926080" cy="365760"/>
          </a:xfrm>
          <a:prstGeom prst="rect">
            <a:avLst/>
          </a:prstGeom>
          <a:noFill/>
          <a:ln/>
        </p:spPr>
        <p:txBody>
          <a:bodyPr wrap="square" lIns="0" tIns="0" rIns="0" bIns="0" rtlCol="0" anchor="ctr"/>
          <a:lstStyle/>
          <a:p>
            <a:pPr indent="0" marL="0">
              <a:buNone/>
            </a:pPr>
            <a:r>
              <a:rPr lang="en-US" sz="1800" b="1" dirty="0">
                <a:solidFill>
                  <a:srgbClr val="0D7E8E"/>
                </a:solidFill>
                <a:latin typeface="Calibri" pitchFamily="34" charset="0"/>
                <a:ea typeface="Calibri" pitchFamily="34" charset="-122"/>
                <a:cs typeface="Calibri" pitchFamily="34" charset="-120"/>
              </a:rPr>
              <a:t>Revert to normal</a:t>
            </a:r>
            <a:endParaRPr lang="en-US" sz="1800" dirty="0"/>
          </a:p>
        </p:txBody>
      </p:sp>
      <p:sp>
        <p:nvSpPr>
          <p:cNvPr id="24" name="Text 22"/>
          <p:cNvSpPr/>
          <p:nvPr/>
        </p:nvSpPr>
        <p:spPr>
          <a:xfrm>
            <a:off x="3931920" y="4553712"/>
            <a:ext cx="7299655" cy="868680"/>
          </a:xfrm>
          <a:prstGeom prst="rect">
            <a:avLst/>
          </a:prstGeom>
          <a:noFill/>
          <a:ln/>
        </p:spPr>
        <p:txBody>
          <a:bodyPr wrap="square" lIns="0" tIns="0" rIns="0" bIns="0" rtlCol="0" anchor="ctr"/>
          <a:lstStyle/>
          <a:p>
            <a:pPr indent="0" marL="0">
              <a:buNone/>
            </a:pPr>
            <a:r>
              <a:rPr lang="en-US" sz="1450" dirty="0">
                <a:solidFill>
                  <a:srgbClr val="17272B"/>
                </a:solidFill>
                <a:latin typeface="Calibri" pitchFamily="34" charset="0"/>
                <a:ea typeface="Calibri" pitchFamily="34" charset="-122"/>
                <a:cs typeface="Calibri" pitchFamily="34" charset="-120"/>
              </a:rPr>
              <a:t>The app snapshots the original before your first change, so reverting restores exactly what was there — and pulls the notice back down. You can never be stuck having damaged the calendar.</a:t>
            </a:r>
            <a:endParaRPr lang="en-US" sz="1450" dirty="0"/>
          </a:p>
        </p:txBody>
      </p:sp>
      <p:sp>
        <p:nvSpPr>
          <p:cNvPr id="25" name="Text 23"/>
          <p:cNvSpPr/>
          <p:nvPr/>
        </p:nvSpPr>
        <p:spPr>
          <a:xfrm>
            <a:off x="640080" y="5806440"/>
            <a:ext cx="10911535" cy="365760"/>
          </a:xfrm>
          <a:prstGeom prst="rect">
            <a:avLst/>
          </a:prstGeom>
          <a:noFill/>
          <a:ln/>
        </p:spPr>
        <p:txBody>
          <a:bodyPr wrap="square" lIns="0" tIns="0" rIns="0" bIns="0" rtlCol="0" anchor="ctr"/>
          <a:lstStyle/>
          <a:p>
            <a:pPr indent="0" marL="0">
              <a:buNone/>
            </a:pPr>
            <a:r>
              <a:rPr lang="en-US" sz="1500" i="1" dirty="0">
                <a:solidFill>
                  <a:srgbClr val="5C6E73"/>
                </a:solidFill>
                <a:latin typeface="Calibri" pitchFamily="34" charset="0"/>
                <a:ea typeface="Calibri" pitchFamily="34" charset="-122"/>
                <a:cs typeface="Calibri" pitchFamily="34" charset="-120"/>
              </a:rPr>
              <a:t>And for the day school closes: one button cancels everything on that date and posts one notice.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TEMPORARY ROSTER CHANGES</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Borrow a student. Keep your roster.</a:t>
            </a:r>
            <a:endParaRPr lang="en-US" sz="3600" dirty="0"/>
          </a:p>
        </p:txBody>
      </p:sp>
      <p:sp>
        <p:nvSpPr>
          <p:cNvPr id="4" name="Shape 2"/>
          <p:cNvSpPr/>
          <p:nvPr/>
        </p:nvSpPr>
        <p:spPr>
          <a:xfrm>
            <a:off x="640080" y="1783080"/>
            <a:ext cx="5394960" cy="3200400"/>
          </a:xfrm>
          <a:prstGeom prst="roundRect">
            <a:avLst>
              <a:gd name="adj" fmla="val 257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Text 3"/>
          <p:cNvSpPr/>
          <p:nvPr/>
        </p:nvSpPr>
        <p:spPr>
          <a:xfrm>
            <a:off x="1005840" y="1965960"/>
            <a:ext cx="4663440" cy="365760"/>
          </a:xfrm>
          <a:prstGeom prst="rect">
            <a:avLst/>
          </a:prstGeom>
          <a:noFill/>
          <a:ln/>
        </p:spPr>
        <p:txBody>
          <a:bodyPr wrap="square" lIns="0" tIns="0" rIns="0" bIns="0" rtlCol="0" anchor="ctr"/>
          <a:lstStyle/>
          <a:p>
            <a:pPr indent="0" marL="0">
              <a:buNone/>
            </a:pPr>
            <a:r>
              <a:rPr lang="en-US" sz="2200" b="1" dirty="0">
                <a:solidFill>
                  <a:srgbClr val="0D7E8E"/>
                </a:solidFill>
                <a:latin typeface="Cambria" pitchFamily="34" charset="0"/>
                <a:ea typeface="Cambria" pitchFamily="34" charset="-122"/>
                <a:cs typeface="Cambria" pitchFamily="34" charset="-120"/>
              </a:rPr>
              <a:t>What you do</a:t>
            </a:r>
            <a:endParaRPr lang="en-US" sz="2200" dirty="0"/>
          </a:p>
        </p:txBody>
      </p:sp>
      <p:sp>
        <p:nvSpPr>
          <p:cNvPr id="6" name="Text 4"/>
          <p:cNvSpPr/>
          <p:nvPr/>
        </p:nvSpPr>
        <p:spPr>
          <a:xfrm>
            <a:off x="1005840" y="2468880"/>
            <a:ext cx="4663440" cy="1463040"/>
          </a:xfrm>
          <a:prstGeom prst="rect">
            <a:avLst/>
          </a:prstGeom>
          <a:noFill/>
          <a:ln/>
        </p:spPr>
        <p:txBody>
          <a:bodyPr wrap="square" lIns="0" tIns="0" rIns="0" bIns="0" rtlCol="0" anchor="ctr"/>
          <a:lstStyle/>
          <a:p>
            <a:pPr marL="342900" indent="-342900">
              <a:spcAft>
                <a:spcPts val="1000"/>
              </a:spcAft>
              <a:buSzPct val="100000"/>
              <a:buChar char="•"/>
            </a:pPr>
            <a:r>
              <a:rPr lang="en-US" sz="1550" dirty="0">
                <a:solidFill>
                  <a:srgbClr val="17272B"/>
                </a:solidFill>
                <a:latin typeface="Calibri" pitchFamily="34" charset="0"/>
                <a:ea typeface="Calibri" pitchFamily="34" charset="-122"/>
                <a:cs typeface="Calibri" pitchFamily="34" charset="-120"/>
              </a:rPr>
              <a:t>Add a student for one event — or for a date range</a:t>
            </a:r>
            <a:endParaRPr lang="en-US" sz="1550" dirty="0"/>
          </a:p>
          <a:p>
            <a:pPr marL="342900" indent="-342900">
              <a:spcAft>
                <a:spcPts val="1000"/>
              </a:spcAft>
              <a:buSzPct val="100000"/>
              <a:buChar char="•"/>
            </a:pPr>
            <a:r>
              <a:rPr lang="en-US" sz="1550" dirty="0">
                <a:solidFill>
                  <a:srgbClr val="17272B"/>
                </a:solidFill>
                <a:latin typeface="Calibri" pitchFamily="34" charset="0"/>
                <a:ea typeface="Calibri" pitchFamily="34" charset="-122"/>
                <a:cs typeface="Calibri" pitchFamily="34" charset="-120"/>
              </a:rPr>
              <a:t>Or pull one out for the same</a:t>
            </a:r>
            <a:endParaRPr lang="en-US" sz="1550" dirty="0"/>
          </a:p>
          <a:p>
            <a:pPr marL="342900" indent="-342900">
              <a:spcAft>
                <a:spcPts val="1000"/>
              </a:spcAft>
              <a:buSzPct val="100000"/>
              <a:buChar char="•"/>
            </a:pPr>
            <a:r>
              <a:rPr lang="en-US" sz="1550" dirty="0">
                <a:solidFill>
                  <a:srgbClr val="17272B"/>
                </a:solidFill>
                <a:latin typeface="Calibri" pitchFamily="34" charset="0"/>
                <a:ea typeface="Calibri" pitchFamily="34" charset="-122"/>
                <a:cs typeface="Calibri" pitchFamily="34" charset="-120"/>
              </a:rPr>
              <a:t>Give a reason. It’s required.</a:t>
            </a:r>
            <a:endParaRPr lang="en-US" sz="1550" dirty="0"/>
          </a:p>
        </p:txBody>
      </p:sp>
      <p:sp>
        <p:nvSpPr>
          <p:cNvPr id="7" name="Text 5"/>
          <p:cNvSpPr/>
          <p:nvPr/>
        </p:nvSpPr>
        <p:spPr>
          <a:xfrm>
            <a:off x="1005840" y="4297680"/>
            <a:ext cx="4663440" cy="365760"/>
          </a:xfrm>
          <a:prstGeom prst="rect">
            <a:avLst/>
          </a:prstGeom>
          <a:noFill/>
          <a:ln/>
        </p:spPr>
        <p:txBody>
          <a:bodyPr wrap="square" lIns="0" tIns="0" rIns="0" bIns="0" rtlCol="0" anchor="ctr"/>
          <a:lstStyle/>
          <a:p>
            <a:pPr indent="0" marL="0">
              <a:buNone/>
            </a:pPr>
            <a:r>
              <a:rPr lang="en-US" sz="1500" i="1" dirty="0">
                <a:solidFill>
                  <a:srgbClr val="0A5560"/>
                </a:solidFill>
                <a:latin typeface="Calibri" pitchFamily="34" charset="0"/>
                <a:ea typeface="Calibri" pitchFamily="34" charset="-122"/>
                <a:cs typeface="Calibri" pitchFamily="34" charset="-120"/>
              </a:rPr>
              <a:t>It expires by itself.</a:t>
            </a:r>
            <a:endParaRPr lang="en-US" sz="1500" dirty="0"/>
          </a:p>
        </p:txBody>
      </p:sp>
      <p:sp>
        <p:nvSpPr>
          <p:cNvPr id="8" name="Shape 6"/>
          <p:cNvSpPr/>
          <p:nvPr/>
        </p:nvSpPr>
        <p:spPr>
          <a:xfrm>
            <a:off x="6156655" y="1783080"/>
            <a:ext cx="5394960" cy="3200400"/>
          </a:xfrm>
          <a:prstGeom prst="roundRect">
            <a:avLst>
              <a:gd name="adj" fmla="val 2571"/>
            </a:avLst>
          </a:prstGeom>
          <a:solidFill>
            <a:srgbClr val="0A5560"/>
          </a:solidFill>
          <a:ln w="12700">
            <a:solidFill>
              <a:srgbClr val="0A5560"/>
            </a:solidFill>
            <a:prstDash val="solid"/>
          </a:ln>
          <a:effectLst>
            <a:outerShdw sx="100000" sy="100000" kx="0" ky="0" algn="bl" rotWithShape="0" blurRad="127000" dist="25400" dir="5400000">
              <a:srgbClr val="9FB3B7">
                <a:alpha val="28000"/>
              </a:srgbClr>
            </a:outerShdw>
          </a:effectLst>
        </p:spPr>
      </p:sp>
      <p:sp>
        <p:nvSpPr>
          <p:cNvPr id="9" name="Text 7"/>
          <p:cNvSpPr/>
          <p:nvPr/>
        </p:nvSpPr>
        <p:spPr>
          <a:xfrm>
            <a:off x="6522415" y="1965960"/>
            <a:ext cx="4663440"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What it never touches</a:t>
            </a:r>
            <a:endParaRPr lang="en-US" sz="2200" dirty="0"/>
          </a:p>
        </p:txBody>
      </p:sp>
      <p:sp>
        <p:nvSpPr>
          <p:cNvPr id="10" name="Text 8"/>
          <p:cNvSpPr/>
          <p:nvPr/>
        </p:nvSpPr>
        <p:spPr>
          <a:xfrm>
            <a:off x="6522415" y="2514600"/>
            <a:ext cx="4663440" cy="457200"/>
          </a:xfrm>
          <a:prstGeom prst="rect">
            <a:avLst/>
          </a:prstGeom>
          <a:noFill/>
          <a:ln/>
        </p:spPr>
        <p:txBody>
          <a:bodyPr wrap="square" lIns="0" tIns="0" rIns="0" bIns="0" rtlCol="0" anchor="ctr"/>
          <a:lstStyle/>
          <a:p>
            <a:pPr indent="0" marL="0">
              <a:buNone/>
            </a:pPr>
            <a:r>
              <a:rPr lang="en-US" sz="2700" b="1" dirty="0">
                <a:solidFill>
                  <a:srgbClr val="9FD2DA"/>
                </a:solidFill>
                <a:latin typeface="Cambria" pitchFamily="34" charset="0"/>
                <a:ea typeface="Cambria" pitchFamily="34" charset="-122"/>
                <a:cs typeface="Cambria" pitchFamily="34" charset="-120"/>
              </a:rPr>
              <a:t>Your permanent roster.</a:t>
            </a:r>
            <a:endParaRPr lang="en-US" sz="2700" dirty="0"/>
          </a:p>
        </p:txBody>
      </p:sp>
      <p:sp>
        <p:nvSpPr>
          <p:cNvPr id="11" name="Text 9"/>
          <p:cNvSpPr/>
          <p:nvPr/>
        </p:nvSpPr>
        <p:spPr>
          <a:xfrm>
            <a:off x="6522415" y="3200400"/>
            <a:ext cx="4663440" cy="1554480"/>
          </a:xfrm>
          <a:prstGeom prst="rect">
            <a:avLst/>
          </a:prstGeom>
          <a:noFill/>
          <a:ln/>
        </p:spPr>
        <p:txBody>
          <a:bodyPr wrap="square" lIns="0" tIns="0" rIns="0" bIns="0" rtlCol="0" anchor="ctr"/>
          <a:lstStyle/>
          <a:p>
            <a:pPr indent="0" marL="0">
              <a:buNone/>
            </a:pPr>
            <a:r>
              <a:rPr lang="en-US" sz="1450" dirty="0">
                <a:solidFill>
                  <a:srgbClr val="CFE6EA"/>
                </a:solidFill>
                <a:latin typeface="Calibri" pitchFamily="34" charset="0"/>
                <a:ea typeface="Calibri" pitchFamily="34" charset="-122"/>
                <a:cs typeface="Calibri" pitchFamily="34" charset="-120"/>
              </a:rPr>
              <a:t>While it’s active it is completely real: a “Sub” badge on your roll screen, the student on Who’s Out for the ensemble they left, and the change on their own public schedule.</a:t>
            </a:r>
            <a:endParaRPr lang="en-US" sz="1450" dirty="0"/>
          </a:p>
        </p:txBody>
      </p:sp>
      <p:sp>
        <p:nvSpPr>
          <p:cNvPr id="12" name="Text 10"/>
          <p:cNvSpPr/>
          <p:nvPr/>
        </p:nvSpPr>
        <p:spPr>
          <a:xfrm>
            <a:off x="640080" y="5394960"/>
            <a:ext cx="10911535" cy="411480"/>
          </a:xfrm>
          <a:prstGeom prst="rect">
            <a:avLst/>
          </a:prstGeom>
          <a:noFill/>
          <a:ln/>
        </p:spPr>
        <p:txBody>
          <a:bodyPr wrap="square" lIns="0" tIns="0" rIns="0" bIns="0" rtlCol="0" anchor="ctr"/>
          <a:lstStyle/>
          <a:p>
            <a:pPr algn="ctr" indent="0" marL="0">
              <a:buNone/>
            </a:pPr>
            <a:r>
              <a:rPr lang="en-US" sz="1700" i="1" dirty="0">
                <a:solidFill>
                  <a:srgbClr val="0A5560"/>
                </a:solidFill>
                <a:latin typeface="Calibri" pitchFamily="34" charset="0"/>
                <a:ea typeface="Calibri" pitchFamily="34" charset="-122"/>
                <a:cs typeface="Calibri" pitchFamily="34" charset="-120"/>
              </a:rPr>
              <a:t>Nobody has to remember to undo anything. That is how rosters stop rotting.</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ANNOUNCEMENTS</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Three levels — and one rule</a:t>
            </a:r>
            <a:endParaRPr lang="en-US" sz="3600" dirty="0"/>
          </a:p>
        </p:txBody>
      </p:sp>
      <p:sp>
        <p:nvSpPr>
          <p:cNvPr id="4" name="Shape 2"/>
          <p:cNvSpPr/>
          <p:nvPr/>
        </p:nvSpPr>
        <p:spPr>
          <a:xfrm>
            <a:off x="640080" y="1737360"/>
            <a:ext cx="7863840" cy="786384"/>
          </a:xfrm>
          <a:prstGeom prst="roundRect">
            <a:avLst>
              <a:gd name="adj" fmla="val 11628"/>
            </a:avLst>
          </a:prstGeom>
          <a:solidFill>
            <a:srgbClr val="F1F6F7"/>
          </a:solidFill>
          <a:ln w="12700">
            <a:solidFill>
              <a:srgbClr val="D8E4E6"/>
            </a:solidFill>
            <a:prstDash val="solid"/>
          </a:ln>
        </p:spPr>
      </p:sp>
      <p:sp>
        <p:nvSpPr>
          <p:cNvPr id="5" name="Text 3"/>
          <p:cNvSpPr/>
          <p:nvPr/>
        </p:nvSpPr>
        <p:spPr>
          <a:xfrm>
            <a:off x="914400" y="1737360"/>
            <a:ext cx="1737360" cy="786384"/>
          </a:xfrm>
          <a:prstGeom prst="rect">
            <a:avLst/>
          </a:prstGeom>
          <a:noFill/>
          <a:ln/>
        </p:spPr>
        <p:txBody>
          <a:bodyPr wrap="square" lIns="0" tIns="0" rIns="0" bIns="0" rtlCol="0" anchor="ctr"/>
          <a:lstStyle/>
          <a:p>
            <a:pPr indent="0" marL="0">
              <a:buNone/>
            </a:pPr>
            <a:r>
              <a:rPr lang="en-US" sz="1800" b="1" dirty="0">
                <a:solidFill>
                  <a:srgbClr val="17272B"/>
                </a:solidFill>
                <a:latin typeface="Calibri" pitchFamily="34" charset="0"/>
                <a:ea typeface="Calibri" pitchFamily="34" charset="-122"/>
                <a:cs typeface="Calibri" pitchFamily="34" charset="-120"/>
              </a:rPr>
              <a:t>Normal</a:t>
            </a:r>
            <a:endParaRPr lang="en-US" sz="1800" dirty="0"/>
          </a:p>
        </p:txBody>
      </p:sp>
      <p:sp>
        <p:nvSpPr>
          <p:cNvPr id="6" name="Text 4"/>
          <p:cNvSpPr/>
          <p:nvPr/>
        </p:nvSpPr>
        <p:spPr>
          <a:xfrm>
            <a:off x="2651760" y="1737360"/>
            <a:ext cx="5669280" cy="786384"/>
          </a:xfrm>
          <a:prstGeom prst="rect">
            <a:avLst/>
          </a:prstGeom>
          <a:noFill/>
          <a:ln/>
        </p:spPr>
        <p:txBody>
          <a:bodyPr wrap="square" lIns="0" tIns="0" rIns="0" bIns="0" rtlCol="0" anchor="ctr"/>
          <a:lstStyle/>
          <a:p>
            <a:pPr indent="0" marL="0">
              <a:buNone/>
            </a:pPr>
            <a:r>
              <a:rPr lang="en-US" sz="1400" dirty="0">
                <a:solidFill>
                  <a:srgbClr val="17272B"/>
                </a:solidFill>
                <a:latin typeface="Calibri" pitchFamily="34" charset="0"/>
                <a:ea typeface="Calibri" pitchFamily="34" charset="-122"/>
                <a:cs typeface="Calibri" pitchFamily="34" charset="-120"/>
              </a:rPr>
              <a:t>Appears on the front page and your ensemble’s page.</a:t>
            </a:r>
            <a:endParaRPr lang="en-US" sz="1400" dirty="0"/>
          </a:p>
        </p:txBody>
      </p:sp>
      <p:sp>
        <p:nvSpPr>
          <p:cNvPr id="7" name="Shape 5"/>
          <p:cNvSpPr/>
          <p:nvPr/>
        </p:nvSpPr>
        <p:spPr>
          <a:xfrm>
            <a:off x="640080" y="2670048"/>
            <a:ext cx="7863840" cy="786384"/>
          </a:xfrm>
          <a:prstGeom prst="roundRect">
            <a:avLst>
              <a:gd name="adj" fmla="val 11628"/>
            </a:avLst>
          </a:prstGeom>
          <a:solidFill>
            <a:srgbClr val="FBF4E3"/>
          </a:solidFill>
          <a:ln w="12700">
            <a:solidFill>
              <a:srgbClr val="E8D9B0"/>
            </a:solidFill>
            <a:prstDash val="solid"/>
          </a:ln>
        </p:spPr>
      </p:sp>
      <p:sp>
        <p:nvSpPr>
          <p:cNvPr id="8" name="Text 6"/>
          <p:cNvSpPr/>
          <p:nvPr/>
        </p:nvSpPr>
        <p:spPr>
          <a:xfrm>
            <a:off x="914400" y="2670048"/>
            <a:ext cx="1737360" cy="786384"/>
          </a:xfrm>
          <a:prstGeom prst="rect">
            <a:avLst/>
          </a:prstGeom>
          <a:noFill/>
          <a:ln/>
        </p:spPr>
        <p:txBody>
          <a:bodyPr wrap="square" lIns="0" tIns="0" rIns="0" bIns="0" rtlCol="0" anchor="ctr"/>
          <a:lstStyle/>
          <a:p>
            <a:pPr indent="0" marL="0">
              <a:buNone/>
            </a:pPr>
            <a:r>
              <a:rPr lang="en-US" sz="1800" b="1" dirty="0">
                <a:solidFill>
                  <a:srgbClr val="5A4A22"/>
                </a:solidFill>
                <a:latin typeface="Calibri" pitchFamily="34" charset="0"/>
                <a:ea typeface="Calibri" pitchFamily="34" charset="-122"/>
                <a:cs typeface="Calibri" pitchFamily="34" charset="-120"/>
              </a:rPr>
              <a:t>Important</a:t>
            </a:r>
            <a:endParaRPr lang="en-US" sz="1800" dirty="0"/>
          </a:p>
        </p:txBody>
      </p:sp>
      <p:sp>
        <p:nvSpPr>
          <p:cNvPr id="9" name="Text 7"/>
          <p:cNvSpPr/>
          <p:nvPr/>
        </p:nvSpPr>
        <p:spPr>
          <a:xfrm>
            <a:off x="2651760" y="2670048"/>
            <a:ext cx="5669280" cy="786384"/>
          </a:xfrm>
          <a:prstGeom prst="rect">
            <a:avLst/>
          </a:prstGeom>
          <a:noFill/>
          <a:ln/>
        </p:spPr>
        <p:txBody>
          <a:bodyPr wrap="square" lIns="0" tIns="0" rIns="0" bIns="0" rtlCol="0" anchor="ctr"/>
          <a:lstStyle/>
          <a:p>
            <a:pPr indent="0" marL="0">
              <a:buNone/>
            </a:pPr>
            <a:r>
              <a:rPr lang="en-US" sz="1400" dirty="0">
                <a:solidFill>
                  <a:srgbClr val="5A4A22"/>
                </a:solidFill>
                <a:latin typeface="Calibri" pitchFamily="34" charset="0"/>
                <a:ea typeface="Calibri" pitchFamily="34" charset="-122"/>
                <a:cs typeface="Calibri" pitchFamily="34" charset="-120"/>
              </a:rPr>
              <a:t>Highlighted so it can’t be scrolled past.</a:t>
            </a:r>
            <a:endParaRPr lang="en-US" sz="1400" dirty="0"/>
          </a:p>
        </p:txBody>
      </p:sp>
      <p:sp>
        <p:nvSpPr>
          <p:cNvPr id="10" name="Shape 8"/>
          <p:cNvSpPr/>
          <p:nvPr/>
        </p:nvSpPr>
        <p:spPr>
          <a:xfrm>
            <a:off x="640080" y="3602736"/>
            <a:ext cx="7863840" cy="786384"/>
          </a:xfrm>
          <a:prstGeom prst="roundRect">
            <a:avLst>
              <a:gd name="adj" fmla="val 11628"/>
            </a:avLst>
          </a:prstGeom>
          <a:solidFill>
            <a:srgbClr val="F6E7E7"/>
          </a:solidFill>
          <a:ln w="12700">
            <a:solidFill>
              <a:srgbClr val="E4C2C2"/>
            </a:solidFill>
            <a:prstDash val="solid"/>
          </a:ln>
        </p:spPr>
      </p:sp>
      <p:sp>
        <p:nvSpPr>
          <p:cNvPr id="11" name="Text 9"/>
          <p:cNvSpPr/>
          <p:nvPr/>
        </p:nvSpPr>
        <p:spPr>
          <a:xfrm>
            <a:off x="914400" y="3602736"/>
            <a:ext cx="1737360" cy="786384"/>
          </a:xfrm>
          <a:prstGeom prst="rect">
            <a:avLst/>
          </a:prstGeom>
          <a:noFill/>
          <a:ln/>
        </p:spPr>
        <p:txBody>
          <a:bodyPr wrap="square" lIns="0" tIns="0" rIns="0" bIns="0" rtlCol="0" anchor="ctr"/>
          <a:lstStyle/>
          <a:p>
            <a:pPr indent="0" marL="0">
              <a:buNone/>
            </a:pPr>
            <a:r>
              <a:rPr lang="en-US" sz="1800" b="1" dirty="0">
                <a:solidFill>
                  <a:srgbClr val="7A2E2E"/>
                </a:solidFill>
                <a:latin typeface="Calibri" pitchFamily="34" charset="0"/>
                <a:ea typeface="Calibri" pitchFamily="34" charset="-122"/>
                <a:cs typeface="Calibri" pitchFamily="34" charset="-120"/>
              </a:rPr>
              <a:t>Urgent</a:t>
            </a:r>
            <a:endParaRPr lang="en-US" sz="1800" dirty="0"/>
          </a:p>
        </p:txBody>
      </p:sp>
      <p:sp>
        <p:nvSpPr>
          <p:cNvPr id="12" name="Text 10"/>
          <p:cNvSpPr/>
          <p:nvPr/>
        </p:nvSpPr>
        <p:spPr>
          <a:xfrm>
            <a:off x="2651760" y="3602736"/>
            <a:ext cx="5669280" cy="786384"/>
          </a:xfrm>
          <a:prstGeom prst="rect">
            <a:avLst/>
          </a:prstGeom>
          <a:noFill/>
          <a:ln/>
        </p:spPr>
        <p:txBody>
          <a:bodyPr wrap="square" lIns="0" tIns="0" rIns="0" bIns="0" rtlCol="0" anchor="ctr"/>
          <a:lstStyle/>
          <a:p>
            <a:pPr indent="0" marL="0">
              <a:buNone/>
            </a:pPr>
            <a:r>
              <a:rPr lang="en-US" sz="1400" dirty="0">
                <a:solidFill>
                  <a:srgbClr val="7A2E2E"/>
                </a:solidFill>
                <a:latin typeface="Calibri" pitchFamily="34" charset="0"/>
                <a:ea typeface="Calibri" pitchFamily="34" charset="-122"/>
                <a:cs typeface="Calibri" pitchFamily="34" charset="-120"/>
              </a:rPr>
              <a:t>A banner across every page of the site. For “call time moved” — not “bring your folder.”</a:t>
            </a:r>
            <a:endParaRPr lang="en-US" sz="1400" dirty="0"/>
          </a:p>
        </p:txBody>
      </p:sp>
      <p:sp>
        <p:nvSpPr>
          <p:cNvPr id="13" name="Text 11"/>
          <p:cNvSpPr/>
          <p:nvPr/>
        </p:nvSpPr>
        <p:spPr>
          <a:xfrm>
            <a:off x="8869680" y="1737360"/>
            <a:ext cx="2681935" cy="320040"/>
          </a:xfrm>
          <a:prstGeom prst="rect">
            <a:avLst/>
          </a:prstGeom>
          <a:noFill/>
          <a:ln/>
        </p:spPr>
        <p:txBody>
          <a:bodyPr wrap="square" lIns="0" tIns="0" rIns="0" bIns="0" rtlCol="0" anchor="ctr"/>
          <a:lstStyle/>
          <a:p>
            <a:pPr indent="0" marL="0">
              <a:buNone/>
            </a:pPr>
            <a:r>
              <a:rPr lang="en-US" sz="1500" b="1" dirty="0">
                <a:solidFill>
                  <a:srgbClr val="0A5560"/>
                </a:solidFill>
                <a:latin typeface="Calibri" pitchFamily="34" charset="0"/>
                <a:ea typeface="Calibri" pitchFamily="34" charset="-122"/>
                <a:cs typeface="Calibri" pitchFamily="34" charset="-120"/>
              </a:rPr>
              <a:t>And on any of them:</a:t>
            </a:r>
            <a:endParaRPr lang="en-US" sz="1500" dirty="0"/>
          </a:p>
        </p:txBody>
      </p:sp>
      <p:sp>
        <p:nvSpPr>
          <p:cNvPr id="14" name="Shape 12"/>
          <p:cNvSpPr/>
          <p:nvPr/>
        </p:nvSpPr>
        <p:spPr>
          <a:xfrm>
            <a:off x="8869680" y="2148840"/>
            <a:ext cx="2681935" cy="457200"/>
          </a:xfrm>
          <a:prstGeom prst="roundRect">
            <a:avLst>
              <a:gd name="adj" fmla="val 16000"/>
            </a:avLst>
          </a:prstGeom>
          <a:solidFill>
            <a:srgbClr val="F1F6F7"/>
          </a:solidFill>
          <a:ln w="12700">
            <a:solidFill>
              <a:srgbClr val="D8E4E6"/>
            </a:solidFill>
            <a:prstDash val="solid"/>
          </a:ln>
        </p:spPr>
      </p:sp>
      <p:sp>
        <p:nvSpPr>
          <p:cNvPr id="15" name="Text 13"/>
          <p:cNvSpPr/>
          <p:nvPr/>
        </p:nvSpPr>
        <p:spPr>
          <a:xfrm>
            <a:off x="9052560" y="2148840"/>
            <a:ext cx="2316175" cy="457200"/>
          </a:xfrm>
          <a:prstGeom prst="rect">
            <a:avLst/>
          </a:prstGeom>
          <a:noFill/>
          <a:ln/>
        </p:spPr>
        <p:txBody>
          <a:bodyPr wrap="square" lIns="0" tIns="0" rIns="0" bIns="0" rtlCol="0" anchor="ctr"/>
          <a:lstStyle/>
          <a:p>
            <a:pPr indent="0" marL="0">
              <a:buNone/>
            </a:pPr>
            <a:r>
              <a:rPr lang="en-US" sz="1350" dirty="0">
                <a:solidFill>
                  <a:srgbClr val="17272B"/>
                </a:solidFill>
                <a:latin typeface="Calibri" pitchFamily="34" charset="0"/>
                <a:ea typeface="Calibri" pitchFamily="34" charset="-122"/>
                <a:cs typeface="Calibri" pitchFamily="34" charset="-120"/>
              </a:rPr>
              <a:t>Pin it to the top</a:t>
            </a:r>
            <a:endParaRPr lang="en-US" sz="1350" dirty="0"/>
          </a:p>
        </p:txBody>
      </p:sp>
      <p:sp>
        <p:nvSpPr>
          <p:cNvPr id="16" name="Shape 14"/>
          <p:cNvSpPr/>
          <p:nvPr/>
        </p:nvSpPr>
        <p:spPr>
          <a:xfrm>
            <a:off x="8869680" y="2715768"/>
            <a:ext cx="2681935" cy="457200"/>
          </a:xfrm>
          <a:prstGeom prst="roundRect">
            <a:avLst>
              <a:gd name="adj" fmla="val 16000"/>
            </a:avLst>
          </a:prstGeom>
          <a:solidFill>
            <a:srgbClr val="F1F6F7"/>
          </a:solidFill>
          <a:ln w="12700">
            <a:solidFill>
              <a:srgbClr val="D8E4E6"/>
            </a:solidFill>
            <a:prstDash val="solid"/>
          </a:ln>
        </p:spPr>
      </p:sp>
      <p:sp>
        <p:nvSpPr>
          <p:cNvPr id="17" name="Text 15"/>
          <p:cNvSpPr/>
          <p:nvPr/>
        </p:nvSpPr>
        <p:spPr>
          <a:xfrm>
            <a:off x="9052560" y="2715768"/>
            <a:ext cx="2316175" cy="457200"/>
          </a:xfrm>
          <a:prstGeom prst="rect">
            <a:avLst/>
          </a:prstGeom>
          <a:noFill/>
          <a:ln/>
        </p:spPr>
        <p:txBody>
          <a:bodyPr wrap="square" lIns="0" tIns="0" rIns="0" bIns="0" rtlCol="0" anchor="ctr"/>
          <a:lstStyle/>
          <a:p>
            <a:pPr indent="0" marL="0">
              <a:buNone/>
            </a:pPr>
            <a:r>
              <a:rPr lang="en-US" sz="1350" dirty="0">
                <a:solidFill>
                  <a:srgbClr val="17272B"/>
                </a:solidFill>
                <a:latin typeface="Calibri" pitchFamily="34" charset="0"/>
                <a:ea typeface="Calibri" pitchFamily="34" charset="-122"/>
                <a:cs typeface="Calibri" pitchFamily="34" charset="-120"/>
              </a:rPr>
              <a:t>Give it an expiry date</a:t>
            </a:r>
            <a:endParaRPr lang="en-US" sz="1350" dirty="0"/>
          </a:p>
        </p:txBody>
      </p:sp>
      <p:sp>
        <p:nvSpPr>
          <p:cNvPr id="18" name="Shape 16"/>
          <p:cNvSpPr/>
          <p:nvPr/>
        </p:nvSpPr>
        <p:spPr>
          <a:xfrm>
            <a:off x="8869680" y="3282696"/>
            <a:ext cx="2681935" cy="457200"/>
          </a:xfrm>
          <a:prstGeom prst="roundRect">
            <a:avLst>
              <a:gd name="adj" fmla="val 16000"/>
            </a:avLst>
          </a:prstGeom>
          <a:solidFill>
            <a:srgbClr val="F1F6F7"/>
          </a:solidFill>
          <a:ln w="12700">
            <a:solidFill>
              <a:srgbClr val="D8E4E6"/>
            </a:solidFill>
            <a:prstDash val="solid"/>
          </a:ln>
        </p:spPr>
      </p:sp>
      <p:sp>
        <p:nvSpPr>
          <p:cNvPr id="19" name="Text 17"/>
          <p:cNvSpPr/>
          <p:nvPr/>
        </p:nvSpPr>
        <p:spPr>
          <a:xfrm>
            <a:off x="9052560" y="3282696"/>
            <a:ext cx="2316175" cy="457200"/>
          </a:xfrm>
          <a:prstGeom prst="rect">
            <a:avLst/>
          </a:prstGeom>
          <a:noFill/>
          <a:ln/>
        </p:spPr>
        <p:txBody>
          <a:bodyPr wrap="square" lIns="0" tIns="0" rIns="0" bIns="0" rtlCol="0" anchor="ctr"/>
          <a:lstStyle/>
          <a:p>
            <a:pPr indent="0" marL="0">
              <a:buNone/>
            </a:pPr>
            <a:r>
              <a:rPr lang="en-US" sz="1350" dirty="0">
                <a:solidFill>
                  <a:srgbClr val="17272B"/>
                </a:solidFill>
                <a:latin typeface="Calibri" pitchFamily="34" charset="0"/>
                <a:ea typeface="Calibri" pitchFamily="34" charset="-122"/>
                <a:cs typeface="Calibri" pitchFamily="34" charset="-120"/>
              </a:rPr>
              <a:t>Write it now, post it later</a:t>
            </a:r>
            <a:endParaRPr lang="en-US" sz="1350" dirty="0"/>
          </a:p>
        </p:txBody>
      </p:sp>
      <p:sp>
        <p:nvSpPr>
          <p:cNvPr id="20" name="Shape 18"/>
          <p:cNvSpPr/>
          <p:nvPr/>
        </p:nvSpPr>
        <p:spPr>
          <a:xfrm>
            <a:off x="8869680" y="3849624"/>
            <a:ext cx="2681935" cy="457200"/>
          </a:xfrm>
          <a:prstGeom prst="roundRect">
            <a:avLst>
              <a:gd name="adj" fmla="val 16000"/>
            </a:avLst>
          </a:prstGeom>
          <a:solidFill>
            <a:srgbClr val="F1F6F7"/>
          </a:solidFill>
          <a:ln w="12700">
            <a:solidFill>
              <a:srgbClr val="D8E4E6"/>
            </a:solidFill>
            <a:prstDash val="solid"/>
          </a:ln>
        </p:spPr>
      </p:sp>
      <p:sp>
        <p:nvSpPr>
          <p:cNvPr id="21" name="Text 19"/>
          <p:cNvSpPr/>
          <p:nvPr/>
        </p:nvSpPr>
        <p:spPr>
          <a:xfrm>
            <a:off x="9052560" y="3849624"/>
            <a:ext cx="2316175" cy="457200"/>
          </a:xfrm>
          <a:prstGeom prst="rect">
            <a:avLst/>
          </a:prstGeom>
          <a:noFill/>
          <a:ln/>
        </p:spPr>
        <p:txBody>
          <a:bodyPr wrap="square" lIns="0" tIns="0" rIns="0" bIns="0" rtlCol="0" anchor="ctr"/>
          <a:lstStyle/>
          <a:p>
            <a:pPr indent="0" marL="0">
              <a:buNone/>
            </a:pPr>
            <a:r>
              <a:rPr lang="en-US" sz="1350" dirty="0">
                <a:solidFill>
                  <a:srgbClr val="17272B"/>
                </a:solidFill>
                <a:latin typeface="Calibri" pitchFamily="34" charset="0"/>
                <a:ea typeface="Calibri" pitchFamily="34" charset="-122"/>
                <a:cs typeface="Calibri" pitchFamily="34" charset="-120"/>
              </a:rPr>
              <a:t>Add your own Spanish</a:t>
            </a:r>
            <a:endParaRPr lang="en-US" sz="1350" dirty="0"/>
          </a:p>
        </p:txBody>
      </p:sp>
      <p:sp>
        <p:nvSpPr>
          <p:cNvPr id="22" name="Shape 20"/>
          <p:cNvSpPr/>
          <p:nvPr/>
        </p:nvSpPr>
        <p:spPr>
          <a:xfrm>
            <a:off x="640080" y="5029200"/>
            <a:ext cx="10911535" cy="822960"/>
          </a:xfrm>
          <a:prstGeom prst="roundRect">
            <a:avLst>
              <a:gd name="adj" fmla="val 11111"/>
            </a:avLst>
          </a:prstGeom>
          <a:solidFill>
            <a:srgbClr val="F6E7E7"/>
          </a:solidFill>
          <a:ln w="12700">
            <a:solidFill>
              <a:srgbClr val="E4C2C2"/>
            </a:solidFill>
            <a:prstDash val="solid"/>
          </a:ln>
        </p:spPr>
      </p:sp>
      <p:sp>
        <p:nvSpPr>
          <p:cNvPr id="23" name="Text 21"/>
          <p:cNvSpPr/>
          <p:nvPr/>
        </p:nvSpPr>
        <p:spPr>
          <a:xfrm>
            <a:off x="960120" y="5029200"/>
            <a:ext cx="10271455" cy="822960"/>
          </a:xfrm>
          <a:prstGeom prst="rect">
            <a:avLst/>
          </a:prstGeom>
          <a:noFill/>
          <a:ln/>
        </p:spPr>
        <p:txBody>
          <a:bodyPr wrap="square" lIns="0" tIns="0" rIns="0" bIns="0" rtlCol="0" anchor="ctr"/>
          <a:lstStyle/>
          <a:p>
            <a:pPr indent="0" marL="0">
              <a:buNone/>
            </a:pPr>
            <a:r>
              <a:rPr lang="en-US" sz="1650" b="1" dirty="0">
                <a:solidFill>
                  <a:srgbClr val="7A2E2E"/>
                </a:solidFill>
                <a:latin typeface="Calibri" pitchFamily="34" charset="0"/>
                <a:ea typeface="Calibri" pitchFamily="34" charset="-122"/>
                <a:cs typeface="Calibri" pitchFamily="34" charset="-120"/>
              </a:rPr>
              <a:t>The rule: announcements are public. Anyone can read them. Nothing private goes in one.</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REPERTOIRE — ENTER THE PIECE ONCE</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The program prints itself</a:t>
            </a:r>
            <a:endParaRPr lang="en-US" sz="3600" dirty="0"/>
          </a:p>
        </p:txBody>
      </p:sp>
      <p:sp>
        <p:nvSpPr>
          <p:cNvPr id="4" name="Shape 2"/>
          <p:cNvSpPr/>
          <p:nvPr/>
        </p:nvSpPr>
        <p:spPr>
          <a:xfrm>
            <a:off x="640080" y="1783080"/>
            <a:ext cx="4937760" cy="3383280"/>
          </a:xfrm>
          <a:prstGeom prst="roundRect">
            <a:avLst>
              <a:gd name="adj" fmla="val 2432"/>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Text 3"/>
          <p:cNvSpPr/>
          <p:nvPr/>
        </p:nvSpPr>
        <p:spPr>
          <a:xfrm>
            <a:off x="960120" y="1965960"/>
            <a:ext cx="4297680" cy="365760"/>
          </a:xfrm>
          <a:prstGeom prst="rect">
            <a:avLst/>
          </a:prstGeom>
          <a:noFill/>
          <a:ln/>
        </p:spPr>
        <p:txBody>
          <a:bodyPr wrap="square" lIns="0" tIns="0" rIns="0" bIns="0" rtlCol="0" anchor="ctr"/>
          <a:lstStyle/>
          <a:p>
            <a:pPr indent="0" marL="0">
              <a:buNone/>
            </a:pPr>
            <a:r>
              <a:rPr lang="en-US" sz="2100" b="1" dirty="0">
                <a:solidFill>
                  <a:srgbClr val="0D7E8E"/>
                </a:solidFill>
                <a:latin typeface="Cambria" pitchFamily="34" charset="0"/>
                <a:ea typeface="Cambria" pitchFamily="34" charset="-122"/>
                <a:cs typeface="Cambria" pitchFamily="34" charset="-120"/>
              </a:rPr>
              <a:t>You enter, once</a:t>
            </a:r>
            <a:endParaRPr lang="en-US" sz="2100" dirty="0"/>
          </a:p>
        </p:txBody>
      </p:sp>
      <p:sp>
        <p:nvSpPr>
          <p:cNvPr id="6" name="Text 4"/>
          <p:cNvSpPr/>
          <p:nvPr/>
        </p:nvSpPr>
        <p:spPr>
          <a:xfrm>
            <a:off x="960120" y="2468880"/>
            <a:ext cx="4297680" cy="2011680"/>
          </a:xfrm>
          <a:prstGeom prst="rect">
            <a:avLst/>
          </a:prstGeom>
          <a:noFill/>
          <a:ln/>
        </p:spPr>
        <p:txBody>
          <a:bodyPr wrap="square" lIns="0" tIns="0" rIns="0" bIns="0" rtlCol="0" anchor="ctr"/>
          <a:lstStyle/>
          <a:p>
            <a:pPr marL="342900" indent="-342900">
              <a:spcAft>
                <a:spcPts val="1000"/>
              </a:spcAft>
              <a:buSzPct val="100000"/>
              <a:buChar char="•"/>
            </a:pPr>
            <a:r>
              <a:rPr lang="en-US" sz="1500" dirty="0">
                <a:solidFill>
                  <a:srgbClr val="17272B"/>
                </a:solidFill>
                <a:latin typeface="Calibri" pitchFamily="34" charset="0"/>
                <a:ea typeface="Calibri" pitchFamily="34" charset="-122"/>
                <a:cs typeface="Calibri" pitchFamily="34" charset="-120"/>
              </a:rPr>
              <a:t>Formal title, composer and dates, arranger</a:t>
            </a:r>
            <a:endParaRPr lang="en-US" sz="1500" dirty="0"/>
          </a:p>
          <a:p>
            <a:pPr marL="342900" indent="-342900">
              <a:spcAft>
                <a:spcPts val="1000"/>
              </a:spcAft>
              <a:buSzPct val="100000"/>
              <a:buChar char="•"/>
            </a:pPr>
            <a:r>
              <a:rPr lang="en-US" sz="1500" dirty="0">
                <a:solidFill>
                  <a:srgbClr val="17272B"/>
                </a:solidFill>
                <a:latin typeface="Calibri" pitchFamily="34" charset="0"/>
                <a:ea typeface="Calibri" pitchFamily="34" charset="-122"/>
                <a:cs typeface="Calibri" pitchFamily="34" charset="-120"/>
              </a:rPr>
              <a:t>Movements, durations, program notes</a:t>
            </a:r>
            <a:endParaRPr lang="en-US" sz="1500" dirty="0"/>
          </a:p>
          <a:p>
            <a:pPr marL="342900" indent="-342900">
              <a:spcAft>
                <a:spcPts val="1000"/>
              </a:spcAft>
              <a:buSzPct val="100000"/>
              <a:buChar char="•"/>
            </a:pPr>
            <a:r>
              <a:rPr lang="en-US" sz="1500" dirty="0">
                <a:solidFill>
                  <a:srgbClr val="17272B"/>
                </a:solidFill>
                <a:latin typeface="Calibri" pitchFamily="34" charset="0"/>
                <a:ea typeface="Calibri" pitchFamily="34" charset="-122"/>
                <a:cs typeface="Calibri" pitchFamily="34" charset="-120"/>
              </a:rPr>
              <a:t>A recording, and the score</a:t>
            </a:r>
            <a:endParaRPr lang="en-US" sz="1500" dirty="0"/>
          </a:p>
          <a:p>
            <a:pPr marL="342900" indent="-342900">
              <a:spcAft>
                <a:spcPts val="1000"/>
              </a:spcAft>
              <a:buSzPct val="100000"/>
              <a:buChar char="•"/>
            </a:pPr>
            <a:r>
              <a:rPr lang="en-US" sz="1500" dirty="0">
                <a:solidFill>
                  <a:srgbClr val="17272B"/>
                </a:solidFill>
                <a:latin typeface="Calibri" pitchFamily="34" charset="0"/>
                <a:ea typeface="Calibri" pitchFamily="34" charset="-122"/>
                <a:cs typeface="Calibri" pitchFamily="34" charset="-120"/>
              </a:rPr>
              <a:t>A sheet-music link per instrument</a:t>
            </a:r>
            <a:endParaRPr lang="en-US" sz="1500" dirty="0"/>
          </a:p>
        </p:txBody>
      </p:sp>
      <p:sp>
        <p:nvSpPr>
          <p:cNvPr id="7" name="Shape 5"/>
          <p:cNvSpPr/>
          <p:nvPr/>
        </p:nvSpPr>
        <p:spPr>
          <a:xfrm>
            <a:off x="5897880" y="2926080"/>
            <a:ext cx="868680" cy="822960"/>
          </a:xfrm>
          <a:prstGeom prst="chevron">
            <a:avLst/>
          </a:prstGeom>
          <a:solidFill>
            <a:srgbClr val="B8862B"/>
          </a:solidFill>
          <a:ln w="12700">
            <a:solidFill>
              <a:srgbClr val="B8862B"/>
            </a:solidFill>
            <a:prstDash val="solid"/>
          </a:ln>
        </p:spPr>
      </p:sp>
      <p:sp>
        <p:nvSpPr>
          <p:cNvPr id="8" name="Shape 6"/>
          <p:cNvSpPr/>
          <p:nvPr/>
        </p:nvSpPr>
        <p:spPr>
          <a:xfrm>
            <a:off x="6995160" y="1783080"/>
            <a:ext cx="4556455" cy="3383280"/>
          </a:xfrm>
          <a:prstGeom prst="roundRect">
            <a:avLst>
              <a:gd name="adj" fmla="val 2432"/>
            </a:avLst>
          </a:prstGeom>
          <a:solidFill>
            <a:srgbClr val="0A5560"/>
          </a:solidFill>
          <a:ln w="12700">
            <a:solidFill>
              <a:srgbClr val="0A5560"/>
            </a:solidFill>
            <a:prstDash val="solid"/>
          </a:ln>
          <a:effectLst>
            <a:outerShdw sx="100000" sy="100000" kx="0" ky="0" algn="bl" rotWithShape="0" blurRad="127000" dist="25400" dir="5400000">
              <a:srgbClr val="9FB3B7">
                <a:alpha val="28000"/>
              </a:srgbClr>
            </a:outerShdw>
          </a:effectLst>
        </p:spPr>
      </p:sp>
      <p:sp>
        <p:nvSpPr>
          <p:cNvPr id="9" name="Text 7"/>
          <p:cNvSpPr/>
          <p:nvPr/>
        </p:nvSpPr>
        <p:spPr>
          <a:xfrm>
            <a:off x="7315200" y="1965960"/>
            <a:ext cx="3916375" cy="3657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It comes back out as</a:t>
            </a:r>
            <a:endParaRPr lang="en-US" sz="2100" dirty="0"/>
          </a:p>
        </p:txBody>
      </p:sp>
      <p:sp>
        <p:nvSpPr>
          <p:cNvPr id="10" name="Text 8"/>
          <p:cNvSpPr/>
          <p:nvPr/>
        </p:nvSpPr>
        <p:spPr>
          <a:xfrm>
            <a:off x="7315200" y="2468880"/>
            <a:ext cx="3916375" cy="2194560"/>
          </a:xfrm>
          <a:prstGeom prst="rect">
            <a:avLst/>
          </a:prstGeom>
          <a:noFill/>
          <a:ln/>
        </p:spPr>
        <p:txBody>
          <a:bodyPr wrap="square" lIns="0" tIns="0" rIns="0" bIns="0" rtlCol="0" anchor="ctr"/>
          <a:lstStyle/>
          <a:p>
            <a:pPr marL="342900" indent="-342900">
              <a:spcAft>
                <a:spcPts val="1200"/>
              </a:spcAft>
              <a:buSzPct val="100000"/>
              <a:buChar char="•"/>
            </a:pPr>
            <a:r>
              <a:rPr lang="en-US" sz="1500" dirty="0">
                <a:solidFill>
                  <a:srgbClr val="CFE6EA"/>
                </a:solidFill>
                <a:latin typeface="Calibri" pitchFamily="34" charset="0"/>
                <a:ea typeface="Calibri" pitchFamily="34" charset="-122"/>
                <a:cs typeface="Calibri" pitchFamily="34" charset="-120"/>
              </a:rPr>
              <a:t>The printed concert program — in the order you set</a:t>
            </a:r>
            <a:endParaRPr lang="en-US" sz="1500" dirty="0"/>
          </a:p>
          <a:p>
            <a:pPr marL="342900" indent="-342900">
              <a:spcAft>
                <a:spcPts val="1200"/>
              </a:spcAft>
              <a:buSzPct val="100000"/>
              <a:buChar char="•"/>
            </a:pPr>
            <a:r>
              <a:rPr lang="en-US" sz="1500" dirty="0">
                <a:solidFill>
                  <a:srgbClr val="CFE6EA"/>
                </a:solidFill>
                <a:latin typeface="Calibri" pitchFamily="34" charset="0"/>
                <a:ea typeface="Calibri" pitchFamily="34" charset="-122"/>
                <a:cs typeface="Calibri" pitchFamily="34" charset="-120"/>
              </a:rPr>
              <a:t>A “My part” button for each student, matched to their instrument</a:t>
            </a:r>
            <a:endParaRPr lang="en-US" sz="1500" dirty="0"/>
          </a:p>
          <a:p>
            <a:pPr marL="342900" indent="-342900">
              <a:spcAft>
                <a:spcPts val="1200"/>
              </a:spcAft>
              <a:buSzPct val="100000"/>
              <a:buChar char="•"/>
            </a:pPr>
            <a:r>
              <a:rPr lang="en-US" sz="1500" dirty="0">
                <a:solidFill>
                  <a:srgbClr val="CFE6EA"/>
                </a:solidFill>
                <a:latin typeface="Calibri" pitchFamily="34" charset="0"/>
                <a:ea typeface="Calibri" pitchFamily="34" charset="-122"/>
                <a:cs typeface="Calibri" pitchFamily="34" charset="-120"/>
              </a:rPr>
              <a:t>The piece page families can listen to before the concert</a:t>
            </a:r>
            <a:endParaRPr lang="en-US" sz="1500" dirty="0"/>
          </a:p>
        </p:txBody>
      </p:sp>
      <p:sp>
        <p:nvSpPr>
          <p:cNvPr id="11" name="Text 9"/>
          <p:cNvSpPr/>
          <p:nvPr/>
        </p:nvSpPr>
        <p:spPr>
          <a:xfrm>
            <a:off x="640080" y="5440680"/>
            <a:ext cx="10911535" cy="365760"/>
          </a:xfrm>
          <a:prstGeom prst="rect">
            <a:avLst/>
          </a:prstGeom>
          <a:noFill/>
          <a:ln/>
        </p:spPr>
        <p:txBody>
          <a:bodyPr wrap="square" lIns="0" tIns="0" rIns="0" bIns="0" rtlCol="0" anchor="ctr"/>
          <a:lstStyle/>
          <a:p>
            <a:pPr indent="0" marL="0">
              <a:buNone/>
            </a:pPr>
            <a:r>
              <a:rPr lang="en-US" sz="1500" i="1" dirty="0">
                <a:solidFill>
                  <a:srgbClr val="5C6E73"/>
                </a:solidFill>
                <a:latin typeface="Calibri" pitchFamily="34" charset="0"/>
                <a:ea typeface="Calibri" pitchFamily="34" charset="-122"/>
                <a:cs typeface="Calibri" pitchFamily="34" charset="-120"/>
              </a:rPr>
              <a:t>One piece can belong to several ensembles — a work Wind Ensemble and Choir both perform is one entry, not two.</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ALSO IN THERE</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Three more, when you want them</a:t>
            </a:r>
            <a:endParaRPr lang="en-US" sz="3600" dirty="0"/>
          </a:p>
        </p:txBody>
      </p:sp>
      <p:sp>
        <p:nvSpPr>
          <p:cNvPr id="4" name="Shape 2"/>
          <p:cNvSpPr/>
          <p:nvPr/>
        </p:nvSpPr>
        <p:spPr>
          <a:xfrm>
            <a:off x="640080" y="1828800"/>
            <a:ext cx="3520440" cy="3200400"/>
          </a:xfrm>
          <a:prstGeom prst="roundRect">
            <a:avLst>
              <a:gd name="adj" fmla="val 257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Shape 3"/>
          <p:cNvSpPr/>
          <p:nvPr/>
        </p:nvSpPr>
        <p:spPr>
          <a:xfrm>
            <a:off x="932688" y="2121408"/>
            <a:ext cx="457200" cy="457200"/>
          </a:xfrm>
          <a:prstGeom prst="ellipse">
            <a:avLst/>
          </a:prstGeom>
          <a:solidFill>
            <a:srgbClr val="0D7E8E"/>
          </a:solidFill>
          <a:ln/>
        </p:spPr>
      </p:sp>
      <p:sp>
        <p:nvSpPr>
          <p:cNvPr id="6" name="Text 4"/>
          <p:cNvSpPr/>
          <p:nvPr/>
        </p:nvSpPr>
        <p:spPr>
          <a:xfrm>
            <a:off x="932688" y="212140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932688" y="2697480"/>
            <a:ext cx="2935224" cy="41148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Documents</a:t>
            </a:r>
            <a:endParaRPr lang="en-US" sz="1900" dirty="0"/>
          </a:p>
        </p:txBody>
      </p:sp>
      <p:sp>
        <p:nvSpPr>
          <p:cNvPr id="8" name="Text 6"/>
          <p:cNvSpPr/>
          <p:nvPr/>
        </p:nvSpPr>
        <p:spPr>
          <a:xfrm>
            <a:off x="932688" y="3200400"/>
            <a:ext cx="2935224" cy="169164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Syllabus, handbook, forms, policies — uploaded or linked, tagged to your ensemble or school-wide. Parents stop emailing you for the handbook.</a:t>
            </a:r>
            <a:endParaRPr lang="en-US" sz="1450" dirty="0"/>
          </a:p>
        </p:txBody>
      </p:sp>
      <p:sp>
        <p:nvSpPr>
          <p:cNvPr id="9" name="Shape 7"/>
          <p:cNvSpPr/>
          <p:nvPr/>
        </p:nvSpPr>
        <p:spPr>
          <a:xfrm>
            <a:off x="4544568" y="1828800"/>
            <a:ext cx="3520440" cy="3200400"/>
          </a:xfrm>
          <a:prstGeom prst="roundRect">
            <a:avLst>
              <a:gd name="adj" fmla="val 257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0" name="Shape 8"/>
          <p:cNvSpPr/>
          <p:nvPr/>
        </p:nvSpPr>
        <p:spPr>
          <a:xfrm>
            <a:off x="4837176" y="2121408"/>
            <a:ext cx="457200" cy="457200"/>
          </a:xfrm>
          <a:prstGeom prst="ellipse">
            <a:avLst/>
          </a:prstGeom>
          <a:solidFill>
            <a:srgbClr val="0D7E8E"/>
          </a:solidFill>
          <a:ln/>
        </p:spPr>
      </p:sp>
      <p:sp>
        <p:nvSpPr>
          <p:cNvPr id="11" name="Text 9"/>
          <p:cNvSpPr/>
          <p:nvPr/>
        </p:nvSpPr>
        <p:spPr>
          <a:xfrm>
            <a:off x="4837176" y="212140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4837176" y="2697480"/>
            <a:ext cx="2935224" cy="41148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Assignments &amp; exams</a:t>
            </a:r>
            <a:endParaRPr lang="en-US" sz="1900" dirty="0"/>
          </a:p>
        </p:txBody>
      </p:sp>
      <p:sp>
        <p:nvSpPr>
          <p:cNvPr id="13" name="Text 11"/>
          <p:cNvSpPr/>
          <p:nvPr/>
        </p:nvSpPr>
        <p:spPr>
          <a:xfrm>
            <a:off x="4837176" y="3200400"/>
            <a:ext cx="2935224" cy="169164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Due dates that land on students’ own schedule pages. A playing exam can carry a Google Form link, so it’s submitted through the form.</a:t>
            </a:r>
            <a:endParaRPr lang="en-US" sz="1450" dirty="0"/>
          </a:p>
        </p:txBody>
      </p:sp>
      <p:sp>
        <p:nvSpPr>
          <p:cNvPr id="14" name="Shape 12"/>
          <p:cNvSpPr/>
          <p:nvPr/>
        </p:nvSpPr>
        <p:spPr>
          <a:xfrm>
            <a:off x="8449056" y="1828800"/>
            <a:ext cx="3520440" cy="3200400"/>
          </a:xfrm>
          <a:prstGeom prst="roundRect">
            <a:avLst>
              <a:gd name="adj" fmla="val 257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5" name="Shape 13"/>
          <p:cNvSpPr/>
          <p:nvPr/>
        </p:nvSpPr>
        <p:spPr>
          <a:xfrm>
            <a:off x="8741664" y="2121408"/>
            <a:ext cx="457200" cy="457200"/>
          </a:xfrm>
          <a:prstGeom prst="ellipse">
            <a:avLst/>
          </a:prstGeom>
          <a:solidFill>
            <a:srgbClr val="0D7E8E"/>
          </a:solidFill>
          <a:ln/>
        </p:spPr>
      </p:sp>
      <p:sp>
        <p:nvSpPr>
          <p:cNvPr id="16" name="Text 14"/>
          <p:cNvSpPr/>
          <p:nvPr/>
        </p:nvSpPr>
        <p:spPr>
          <a:xfrm>
            <a:off x="8741664" y="212140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8741664" y="2697480"/>
            <a:ext cx="2935224" cy="41148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Seating</a:t>
            </a:r>
            <a:endParaRPr lang="en-US" sz="1900" dirty="0"/>
          </a:p>
        </p:txBody>
      </p:sp>
      <p:sp>
        <p:nvSpPr>
          <p:cNvPr id="18" name="Text 16"/>
          <p:cNvSpPr/>
          <p:nvPr/>
        </p:nvSpPr>
        <p:spPr>
          <a:xfrm>
            <a:off x="8741664" y="3200400"/>
            <a:ext cx="2935224" cy="169164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Publish a chart after auditions — seat 1 is principal. On rehearsal day you can take roll by tapping chairs instead of reading a list.</a:t>
            </a:r>
            <a:endParaRPr lang="en-US" sz="1450" dirty="0"/>
          </a:p>
        </p:txBody>
      </p:sp>
      <p:sp>
        <p:nvSpPr>
          <p:cNvPr id="19" name="Text 17"/>
          <p:cNvSpPr/>
          <p:nvPr/>
        </p:nvSpPr>
        <p:spPr>
          <a:xfrm>
            <a:off x="640080" y="5349240"/>
            <a:ext cx="10911535" cy="365760"/>
          </a:xfrm>
          <a:prstGeom prst="rect">
            <a:avLst/>
          </a:prstGeom>
          <a:noFill/>
          <a:ln/>
        </p:spPr>
        <p:txBody>
          <a:bodyPr wrap="square" lIns="0" tIns="0" rIns="0" bIns="0" rtlCol="0" anchor="ctr"/>
          <a:lstStyle/>
          <a:p>
            <a:pPr indent="0" marL="0">
              <a:buNone/>
            </a:pPr>
            <a:r>
              <a:rPr lang="en-US" sz="1600" i="1" dirty="0">
                <a:solidFill>
                  <a:srgbClr val="0A5560"/>
                </a:solidFill>
                <a:latin typeface="Calibri" pitchFamily="34" charset="0"/>
                <a:ea typeface="Calibri" pitchFamily="34" charset="-122"/>
                <a:cs typeface="Calibri" pitchFamily="34" charset="-120"/>
              </a:rPr>
              <a:t>None of this is required. Roll and the calendar carry themselves.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NONE OF THIS MATTERS IF THEY NEVER OPEN IT</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Getting families in</a:t>
            </a:r>
            <a:endParaRPr lang="en-US" sz="3600" dirty="0"/>
          </a:p>
        </p:txBody>
      </p:sp>
      <p:sp>
        <p:nvSpPr>
          <p:cNvPr id="4" name="Shape 2"/>
          <p:cNvSpPr/>
          <p:nvPr/>
        </p:nvSpPr>
        <p:spPr>
          <a:xfrm>
            <a:off x="640080" y="1856232"/>
            <a:ext cx="512064" cy="512064"/>
          </a:xfrm>
          <a:prstGeom prst="ellipse">
            <a:avLst/>
          </a:prstGeom>
          <a:solidFill>
            <a:srgbClr val="0D7E8E"/>
          </a:solidFill>
          <a:ln/>
        </p:spPr>
      </p:sp>
      <p:sp>
        <p:nvSpPr>
          <p:cNvPr id="5" name="Text 3"/>
          <p:cNvSpPr/>
          <p:nvPr/>
        </p:nvSpPr>
        <p:spPr>
          <a:xfrm>
            <a:off x="640080" y="185623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371600" y="1783080"/>
            <a:ext cx="2103120" cy="411480"/>
          </a:xfrm>
          <a:prstGeom prst="rect">
            <a:avLst/>
          </a:prstGeom>
          <a:noFill/>
          <a:ln/>
        </p:spPr>
        <p:txBody>
          <a:bodyPr wrap="square" lIns="0" tIns="0" rIns="0" bIns="0" rtlCol="0" anchor="ctr"/>
          <a:lstStyle/>
          <a:p>
            <a:pPr indent="0" marL="0">
              <a:buNone/>
            </a:pPr>
            <a:r>
              <a:rPr lang="en-US" sz="2400" b="1" dirty="0">
                <a:solidFill>
                  <a:srgbClr val="0D7E8E"/>
                </a:solidFill>
                <a:latin typeface="Cambria" pitchFamily="34" charset="0"/>
                <a:ea typeface="Cambria" pitchFamily="34" charset="-122"/>
                <a:cs typeface="Cambria" pitchFamily="34" charset="-120"/>
              </a:rPr>
              <a:t>Scan</a:t>
            </a:r>
            <a:endParaRPr lang="en-US" sz="2400" dirty="0"/>
          </a:p>
        </p:txBody>
      </p:sp>
      <p:sp>
        <p:nvSpPr>
          <p:cNvPr id="7" name="Text 5"/>
          <p:cNvSpPr/>
          <p:nvPr/>
        </p:nvSpPr>
        <p:spPr>
          <a:xfrm>
            <a:off x="3383280" y="1801368"/>
            <a:ext cx="8168335" cy="914400"/>
          </a:xfrm>
          <a:prstGeom prst="rect">
            <a:avLst/>
          </a:prstGeom>
          <a:noFill/>
          <a:ln/>
        </p:spPr>
        <p:txBody>
          <a:bodyPr wrap="square" lIns="0" tIns="0" rIns="0" bIns="0" rtlCol="0" anchor="ctr"/>
          <a:lstStyle/>
          <a:p>
            <a:pPr indent="0" marL="0">
              <a:buNone/>
            </a:pPr>
            <a:r>
              <a:rPr lang="en-US" sz="1550" dirty="0">
                <a:solidFill>
                  <a:srgbClr val="17272B"/>
                </a:solidFill>
                <a:latin typeface="Calibri" pitchFamily="34" charset="0"/>
                <a:ea typeface="Calibri" pitchFamily="34" charset="-122"/>
                <a:cs typeface="Calibri" pitchFamily="34" charset="-120"/>
              </a:rPr>
              <a:t>The app prints a QR kit: posters for the wall, a “find my schedule” poster, one per ensemble, and sheets of slips you cut apart and staple to the front of every folder.</a:t>
            </a:r>
            <a:endParaRPr lang="en-US" sz="1550" dirty="0"/>
          </a:p>
        </p:txBody>
      </p:sp>
      <p:sp>
        <p:nvSpPr>
          <p:cNvPr id="8" name="Shape 6"/>
          <p:cNvSpPr/>
          <p:nvPr/>
        </p:nvSpPr>
        <p:spPr>
          <a:xfrm>
            <a:off x="640080" y="3063240"/>
            <a:ext cx="512064" cy="512064"/>
          </a:xfrm>
          <a:prstGeom prst="ellipse">
            <a:avLst/>
          </a:prstGeom>
          <a:solidFill>
            <a:srgbClr val="0D7E8E"/>
          </a:solidFill>
          <a:ln/>
        </p:spPr>
      </p:sp>
      <p:sp>
        <p:nvSpPr>
          <p:cNvPr id="9" name="Text 7"/>
          <p:cNvSpPr/>
          <p:nvPr/>
        </p:nvSpPr>
        <p:spPr>
          <a:xfrm>
            <a:off x="640080" y="306324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371600" y="2990088"/>
            <a:ext cx="2103120" cy="411480"/>
          </a:xfrm>
          <a:prstGeom prst="rect">
            <a:avLst/>
          </a:prstGeom>
          <a:noFill/>
          <a:ln/>
        </p:spPr>
        <p:txBody>
          <a:bodyPr wrap="square" lIns="0" tIns="0" rIns="0" bIns="0" rtlCol="0" anchor="ctr"/>
          <a:lstStyle/>
          <a:p>
            <a:pPr indent="0" marL="0">
              <a:buNone/>
            </a:pPr>
            <a:r>
              <a:rPr lang="en-US" sz="2400" b="1" dirty="0">
                <a:solidFill>
                  <a:srgbClr val="0D7E8E"/>
                </a:solidFill>
                <a:latin typeface="Cambria" pitchFamily="34" charset="0"/>
                <a:ea typeface="Cambria" pitchFamily="34" charset="-122"/>
                <a:cs typeface="Cambria" pitchFamily="34" charset="-120"/>
              </a:rPr>
              <a:t>Type</a:t>
            </a:r>
            <a:endParaRPr lang="en-US" sz="2400" dirty="0"/>
          </a:p>
        </p:txBody>
      </p:sp>
      <p:sp>
        <p:nvSpPr>
          <p:cNvPr id="11" name="Text 9"/>
          <p:cNvSpPr/>
          <p:nvPr/>
        </p:nvSpPr>
        <p:spPr>
          <a:xfrm>
            <a:off x="3383280" y="3008376"/>
            <a:ext cx="8168335" cy="914400"/>
          </a:xfrm>
          <a:prstGeom prst="rect">
            <a:avLst/>
          </a:prstGeom>
          <a:noFill/>
          <a:ln/>
        </p:spPr>
        <p:txBody>
          <a:bodyPr wrap="square" lIns="0" tIns="0" rIns="0" bIns="0" rtlCol="0" anchor="ctr"/>
          <a:lstStyle/>
          <a:p>
            <a:pPr indent="0" marL="0">
              <a:buNone/>
            </a:pPr>
            <a:r>
              <a:rPr lang="en-US" sz="1550" dirty="0">
                <a:solidFill>
                  <a:srgbClr val="17272B"/>
                </a:solidFill>
                <a:latin typeface="Calibri" pitchFamily="34" charset="0"/>
                <a:ea typeface="Calibri" pitchFamily="34" charset="-122"/>
                <a:cs typeface="Calibri" pitchFamily="34" charset="-120"/>
              </a:rPr>
              <a:t>Short addresses for the ones who’d rather type — /we for Wind Ensemble, /jazz, /choir.</a:t>
            </a:r>
            <a:endParaRPr lang="en-US" sz="1550" dirty="0"/>
          </a:p>
        </p:txBody>
      </p:sp>
      <p:sp>
        <p:nvSpPr>
          <p:cNvPr id="12" name="Shape 10"/>
          <p:cNvSpPr/>
          <p:nvPr/>
        </p:nvSpPr>
        <p:spPr>
          <a:xfrm>
            <a:off x="640080" y="4270248"/>
            <a:ext cx="512064" cy="512064"/>
          </a:xfrm>
          <a:prstGeom prst="ellipse">
            <a:avLst/>
          </a:prstGeom>
          <a:solidFill>
            <a:srgbClr val="0D7E8E"/>
          </a:solidFill>
          <a:ln/>
        </p:spPr>
      </p:sp>
      <p:sp>
        <p:nvSpPr>
          <p:cNvPr id="13" name="Text 11"/>
          <p:cNvSpPr/>
          <p:nvPr/>
        </p:nvSpPr>
        <p:spPr>
          <a:xfrm>
            <a:off x="640080" y="427024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371600" y="4197096"/>
            <a:ext cx="2103120" cy="411480"/>
          </a:xfrm>
          <a:prstGeom prst="rect">
            <a:avLst/>
          </a:prstGeom>
          <a:noFill/>
          <a:ln/>
        </p:spPr>
        <p:txBody>
          <a:bodyPr wrap="square" lIns="0" tIns="0" rIns="0" bIns="0" rtlCol="0" anchor="ctr"/>
          <a:lstStyle/>
          <a:p>
            <a:pPr indent="0" marL="0">
              <a:buNone/>
            </a:pPr>
            <a:r>
              <a:rPr lang="en-US" sz="2400" b="1" dirty="0">
                <a:solidFill>
                  <a:srgbClr val="0D7E8E"/>
                </a:solidFill>
                <a:latin typeface="Cambria" pitchFamily="34" charset="0"/>
                <a:ea typeface="Cambria" pitchFamily="34" charset="-122"/>
                <a:cs typeface="Cambria" pitchFamily="34" charset="-120"/>
              </a:rPr>
              <a:t>Subscribe</a:t>
            </a:r>
            <a:endParaRPr lang="en-US" sz="2400" dirty="0"/>
          </a:p>
        </p:txBody>
      </p:sp>
      <p:sp>
        <p:nvSpPr>
          <p:cNvPr id="15" name="Text 13"/>
          <p:cNvSpPr/>
          <p:nvPr/>
        </p:nvSpPr>
        <p:spPr>
          <a:xfrm>
            <a:off x="3383280" y="4215384"/>
            <a:ext cx="8168335" cy="914400"/>
          </a:xfrm>
          <a:prstGeom prst="rect">
            <a:avLst/>
          </a:prstGeom>
          <a:noFill/>
          <a:ln/>
        </p:spPr>
        <p:txBody>
          <a:bodyPr wrap="square" lIns="0" tIns="0" rIns="0" bIns="0" rtlCol="0" anchor="ctr"/>
          <a:lstStyle/>
          <a:p>
            <a:pPr indent="0" marL="0">
              <a:buNone/>
            </a:pPr>
            <a:r>
              <a:rPr lang="en-US" sz="1550" dirty="0">
                <a:solidFill>
                  <a:srgbClr val="17272B"/>
                </a:solidFill>
                <a:latin typeface="Calibri" pitchFamily="34" charset="0"/>
                <a:ea typeface="Calibri" pitchFamily="34" charset="-122"/>
                <a:cs typeface="Calibri" pitchFamily="34" charset="-120"/>
              </a:rPr>
              <a:t>One tap puts your ensemble’s calendar into the calendar app on a phone, and it stays current by itself.</a:t>
            </a:r>
            <a:endParaRPr lang="en-US" sz="1550" dirty="0"/>
          </a:p>
        </p:txBody>
      </p:sp>
      <p:sp>
        <p:nvSpPr>
          <p:cNvPr id="16" name="Shape 14"/>
          <p:cNvSpPr/>
          <p:nvPr/>
        </p:nvSpPr>
        <p:spPr>
          <a:xfrm>
            <a:off x="640080" y="5486400"/>
            <a:ext cx="10911535" cy="731520"/>
          </a:xfrm>
          <a:prstGeom prst="roundRect">
            <a:avLst>
              <a:gd name="adj" fmla="val 12500"/>
            </a:avLst>
          </a:prstGeom>
          <a:solidFill>
            <a:srgbClr val="0A5560"/>
          </a:solidFill>
          <a:ln w="12700">
            <a:solidFill>
              <a:srgbClr val="0A5560"/>
            </a:solidFill>
            <a:prstDash val="solid"/>
          </a:ln>
        </p:spPr>
      </p:sp>
      <p:sp>
        <p:nvSpPr>
          <p:cNvPr id="17" name="Text 15"/>
          <p:cNvSpPr/>
          <p:nvPr/>
        </p:nvSpPr>
        <p:spPr>
          <a:xfrm>
            <a:off x="960120" y="5486400"/>
            <a:ext cx="10271455" cy="7315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Subscribing is the one I’d push hardest — it’s the difference between families checking, and families knowing.</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PRIVACY</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Who can see what</a:t>
            </a:r>
            <a:endParaRPr lang="en-US" sz="3600" dirty="0"/>
          </a:p>
        </p:txBody>
      </p:sp>
      <p:sp>
        <p:nvSpPr>
          <p:cNvPr id="4" name="Shape 2"/>
          <p:cNvSpPr/>
          <p:nvPr/>
        </p:nvSpPr>
        <p:spPr>
          <a:xfrm>
            <a:off x="640080" y="1737360"/>
            <a:ext cx="5394960" cy="2377440"/>
          </a:xfrm>
          <a:prstGeom prst="roundRect">
            <a:avLst>
              <a:gd name="adj" fmla="val 3462"/>
            </a:avLst>
          </a:prstGeom>
          <a:solidFill>
            <a:srgbClr val="0A5560"/>
          </a:solidFill>
          <a:ln w="12700">
            <a:solidFill>
              <a:srgbClr val="0A5560"/>
            </a:solidFill>
            <a:prstDash val="solid"/>
          </a:ln>
          <a:effectLst>
            <a:outerShdw sx="100000" sy="100000" kx="0" ky="0" algn="bl" rotWithShape="0" blurRad="127000" dist="25400" dir="5400000">
              <a:srgbClr val="9FB3B7">
                <a:alpha val="28000"/>
              </a:srgbClr>
            </a:outerShdw>
          </a:effectLst>
        </p:spPr>
      </p:sp>
      <p:sp>
        <p:nvSpPr>
          <p:cNvPr id="5" name="Text 3"/>
          <p:cNvSpPr/>
          <p:nvPr/>
        </p:nvSpPr>
        <p:spPr>
          <a:xfrm>
            <a:off x="1005840" y="1920240"/>
            <a:ext cx="4663440" cy="36576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Staff only — always</a:t>
            </a:r>
            <a:endParaRPr lang="en-US" sz="2200" dirty="0"/>
          </a:p>
        </p:txBody>
      </p:sp>
      <p:sp>
        <p:nvSpPr>
          <p:cNvPr id="6" name="Text 4"/>
          <p:cNvSpPr/>
          <p:nvPr/>
        </p:nvSpPr>
        <p:spPr>
          <a:xfrm>
            <a:off x="1005840" y="2423160"/>
            <a:ext cx="4663440" cy="146304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CFE6EA"/>
                </a:solidFill>
                <a:latin typeface="Calibri" pitchFamily="34" charset="0"/>
                <a:ea typeface="Calibri" pitchFamily="34" charset="-122"/>
                <a:cs typeface="Calibri" pitchFamily="34" charset="-120"/>
              </a:rPr>
              <a:t>Contact details for students and guardians</a:t>
            </a:r>
            <a:endParaRPr lang="en-US" sz="1500" dirty="0"/>
          </a:p>
          <a:p>
            <a:pPr marL="342900" indent="-342900">
              <a:spcAft>
                <a:spcPts val="800"/>
              </a:spcAft>
              <a:buSzPct val="100000"/>
              <a:buChar char="•"/>
            </a:pPr>
            <a:r>
              <a:rPr lang="en-US" sz="1500" dirty="0">
                <a:solidFill>
                  <a:srgbClr val="CFE6EA"/>
                </a:solidFill>
                <a:latin typeface="Calibri" pitchFamily="34" charset="0"/>
                <a:ea typeface="Calibri" pitchFamily="34" charset="-122"/>
                <a:cs typeface="Calibri" pitchFamily="34" charset="-120"/>
              </a:rPr>
              <a:t>Attendance records</a:t>
            </a:r>
            <a:endParaRPr lang="en-US" sz="1500" dirty="0"/>
          </a:p>
          <a:p>
            <a:pPr marL="342900" indent="-342900">
              <a:spcAft>
                <a:spcPts val="800"/>
              </a:spcAft>
              <a:buSzPct val="100000"/>
              <a:buChar char="•"/>
            </a:pPr>
            <a:r>
              <a:rPr lang="en-US" sz="1500" dirty="0">
                <a:solidFill>
                  <a:srgbClr val="CFE6EA"/>
                </a:solidFill>
                <a:latin typeface="Calibri" pitchFamily="34" charset="0"/>
                <a:ea typeface="Calibri" pitchFamily="34" charset="-122"/>
                <a:cs typeface="Calibri" pitchFamily="34" charset="-120"/>
              </a:rPr>
              <a:t>Progress notes</a:t>
            </a:r>
            <a:endParaRPr lang="en-US" sz="1500" dirty="0"/>
          </a:p>
          <a:p>
            <a:pPr marL="342900" indent="-342900">
              <a:spcAft>
                <a:spcPts val="800"/>
              </a:spcAft>
              <a:buSzPct val="100000"/>
              <a:buChar char="•"/>
            </a:pPr>
            <a:r>
              <a:rPr lang="en-US" sz="1500" dirty="0">
                <a:solidFill>
                  <a:srgbClr val="CFE6EA"/>
                </a:solidFill>
                <a:latin typeface="Calibri" pitchFamily="34" charset="0"/>
                <a:ea typeface="Calibri" pitchFamily="34" charset="-122"/>
                <a:cs typeface="Calibri" pitchFamily="34" charset="-120"/>
              </a:rPr>
              <a:t>Private lesson schedules</a:t>
            </a:r>
            <a:endParaRPr lang="en-US" sz="1500" dirty="0"/>
          </a:p>
        </p:txBody>
      </p:sp>
      <p:sp>
        <p:nvSpPr>
          <p:cNvPr id="7" name="Shape 5"/>
          <p:cNvSpPr/>
          <p:nvPr/>
        </p:nvSpPr>
        <p:spPr>
          <a:xfrm>
            <a:off x="6156655" y="1737360"/>
            <a:ext cx="5394960" cy="2377440"/>
          </a:xfrm>
          <a:prstGeom prst="roundRect">
            <a:avLst>
              <a:gd name="adj" fmla="val 3462"/>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8" name="Text 6"/>
          <p:cNvSpPr/>
          <p:nvPr/>
        </p:nvSpPr>
        <p:spPr>
          <a:xfrm>
            <a:off x="6522415" y="1920240"/>
            <a:ext cx="4663440" cy="365760"/>
          </a:xfrm>
          <a:prstGeom prst="rect">
            <a:avLst/>
          </a:prstGeom>
          <a:noFill/>
          <a:ln/>
        </p:spPr>
        <p:txBody>
          <a:bodyPr wrap="square" lIns="0" tIns="0" rIns="0" bIns="0" rtlCol="0" anchor="ctr"/>
          <a:lstStyle/>
          <a:p>
            <a:pPr indent="0" marL="0">
              <a:buNone/>
            </a:pPr>
            <a:r>
              <a:rPr lang="en-US" sz="2200" b="1" dirty="0">
                <a:solidFill>
                  <a:srgbClr val="0D7E8E"/>
                </a:solidFill>
                <a:latin typeface="Cambria" pitchFamily="34" charset="0"/>
                <a:ea typeface="Cambria" pitchFamily="34" charset="-122"/>
                <a:cs typeface="Cambria" pitchFamily="34" charset="-120"/>
              </a:rPr>
              <a:t>Public — on purpose</a:t>
            </a:r>
            <a:endParaRPr lang="en-US" sz="2200" dirty="0"/>
          </a:p>
        </p:txBody>
      </p:sp>
      <p:sp>
        <p:nvSpPr>
          <p:cNvPr id="9" name="Text 7"/>
          <p:cNvSpPr/>
          <p:nvPr/>
        </p:nvSpPr>
        <p:spPr>
          <a:xfrm>
            <a:off x="6522415" y="2423160"/>
            <a:ext cx="4663440" cy="146304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7272B"/>
                </a:solidFill>
                <a:latin typeface="Calibri" pitchFamily="34" charset="0"/>
                <a:ea typeface="Calibri" pitchFamily="34" charset="-122"/>
                <a:cs typeface="Calibri" pitchFamily="34" charset="-120"/>
              </a:rPr>
              <a:t>Schedules and concerts</a:t>
            </a:r>
            <a:endParaRPr lang="en-US" sz="1500" dirty="0"/>
          </a:p>
          <a:p>
            <a:pPr marL="342900" indent="-342900">
              <a:spcAft>
                <a:spcPts val="800"/>
              </a:spcAft>
              <a:buSzPct val="100000"/>
              <a:buChar char="•"/>
            </a:pPr>
            <a:r>
              <a:rPr lang="en-US" sz="1500" dirty="0">
                <a:solidFill>
                  <a:srgbClr val="17272B"/>
                </a:solidFill>
                <a:latin typeface="Calibri" pitchFamily="34" charset="0"/>
                <a:ea typeface="Calibri" pitchFamily="34" charset="-122"/>
                <a:cs typeface="Calibri" pitchFamily="34" charset="-120"/>
              </a:rPr>
              <a:t>Repertoire and programs</a:t>
            </a:r>
            <a:endParaRPr lang="en-US" sz="1500" dirty="0"/>
          </a:p>
          <a:p>
            <a:pPr marL="342900" indent="-342900">
              <a:spcAft>
                <a:spcPts val="800"/>
              </a:spcAft>
              <a:buSzPct val="100000"/>
              <a:buChar char="•"/>
            </a:pPr>
            <a:r>
              <a:rPr lang="en-US" sz="1500" dirty="0">
                <a:solidFill>
                  <a:srgbClr val="17272B"/>
                </a:solidFill>
                <a:latin typeface="Calibri" pitchFamily="34" charset="0"/>
                <a:ea typeface="Calibri" pitchFamily="34" charset="-122"/>
                <a:cs typeface="Calibri" pitchFamily="34" charset="-120"/>
              </a:rPr>
              <a:t>Announcements</a:t>
            </a:r>
            <a:endParaRPr lang="en-US" sz="1500" dirty="0"/>
          </a:p>
          <a:p>
            <a:pPr marL="342900" indent="-342900">
              <a:spcAft>
                <a:spcPts val="800"/>
              </a:spcAft>
              <a:buSzPct val="100000"/>
              <a:buChar char="•"/>
            </a:pPr>
            <a:r>
              <a:rPr lang="en-US" sz="1500" dirty="0">
                <a:solidFill>
                  <a:srgbClr val="17272B"/>
                </a:solidFill>
                <a:latin typeface="Calibri" pitchFamily="34" charset="0"/>
                <a:ea typeface="Calibri" pitchFamily="34" charset="-122"/>
                <a:cs typeface="Calibri" pitchFamily="34" charset="-120"/>
              </a:rPr>
              <a:t>Student names, instrument, grade, ensemble</a:t>
            </a:r>
            <a:endParaRPr lang="en-US" sz="1500" dirty="0"/>
          </a:p>
        </p:txBody>
      </p:sp>
      <p:sp>
        <p:nvSpPr>
          <p:cNvPr id="10" name="Text 8"/>
          <p:cNvSpPr/>
          <p:nvPr/>
        </p:nvSpPr>
        <p:spPr>
          <a:xfrm>
            <a:off x="640080" y="4297680"/>
            <a:ext cx="10911535" cy="411480"/>
          </a:xfrm>
          <a:prstGeom prst="rect">
            <a:avLst/>
          </a:prstGeom>
          <a:noFill/>
          <a:ln/>
        </p:spPr>
        <p:txBody>
          <a:bodyPr wrap="square" lIns="0" tIns="0" rIns="0" bIns="0" rtlCol="0" anchor="ctr"/>
          <a:lstStyle/>
          <a:p>
            <a:pPr indent="0" marL="0">
              <a:buNone/>
            </a:pPr>
            <a:r>
              <a:rPr lang="en-US" sz="1600" dirty="0">
                <a:solidFill>
                  <a:srgbClr val="17272B"/>
                </a:solidFill>
                <a:latin typeface="Calibri" pitchFamily="34" charset="0"/>
                <a:ea typeface="Calibri" pitchFamily="34" charset="-122"/>
                <a:cs typeface="Calibri" pitchFamily="34" charset="-120"/>
              </a:rPr>
              <a:t>The line between them is enforced by the database itself — not by hiding a page. Knowing the address doesn’t get the data out.</a:t>
            </a:r>
            <a:endParaRPr lang="en-US" sz="1600" dirty="0"/>
          </a:p>
        </p:txBody>
      </p:sp>
      <p:sp>
        <p:nvSpPr>
          <p:cNvPr id="11" name="Shape 9"/>
          <p:cNvSpPr/>
          <p:nvPr/>
        </p:nvSpPr>
        <p:spPr>
          <a:xfrm>
            <a:off x="640080" y="4846320"/>
            <a:ext cx="10911535" cy="1280160"/>
          </a:xfrm>
          <a:prstGeom prst="roundRect">
            <a:avLst>
              <a:gd name="adj" fmla="val 7143"/>
            </a:avLst>
          </a:prstGeom>
          <a:solidFill>
            <a:srgbClr val="FBF4E3"/>
          </a:solidFill>
          <a:ln w="12700">
            <a:solidFill>
              <a:srgbClr val="E8D9B0"/>
            </a:solidFill>
            <a:prstDash val="solid"/>
          </a:ln>
        </p:spPr>
      </p:sp>
      <p:sp>
        <p:nvSpPr>
          <p:cNvPr id="12" name="Text 10"/>
          <p:cNvSpPr/>
          <p:nvPr/>
        </p:nvSpPr>
        <p:spPr>
          <a:xfrm>
            <a:off x="960120" y="4983480"/>
            <a:ext cx="10271455" cy="365760"/>
          </a:xfrm>
          <a:prstGeom prst="rect">
            <a:avLst/>
          </a:prstGeom>
          <a:noFill/>
          <a:ln/>
        </p:spPr>
        <p:txBody>
          <a:bodyPr wrap="square" lIns="0" tIns="0" rIns="0" bIns="0" rtlCol="0" anchor="ctr"/>
          <a:lstStyle/>
          <a:p>
            <a:pPr indent="0" marL="0">
              <a:buNone/>
            </a:pPr>
            <a:r>
              <a:rPr lang="en-US" sz="1700" b="1" dirty="0">
                <a:solidFill>
                  <a:srgbClr val="5A4A22"/>
                </a:solidFill>
                <a:latin typeface="Calibri" pitchFamily="34" charset="0"/>
                <a:ea typeface="Calibri" pitchFamily="34" charset="-122"/>
                <a:cs typeface="Calibri" pitchFamily="34" charset="-120"/>
              </a:rPr>
              <a:t>Student names are public — and that is a decision, not an accident.</a:t>
            </a:r>
            <a:endParaRPr lang="en-US" sz="1700" dirty="0"/>
          </a:p>
        </p:txBody>
      </p:sp>
      <p:sp>
        <p:nvSpPr>
          <p:cNvPr id="13" name="Text 11"/>
          <p:cNvSpPr/>
          <p:nvPr/>
        </p:nvSpPr>
        <p:spPr>
          <a:xfrm>
            <a:off x="960120" y="5376672"/>
            <a:ext cx="10271455" cy="640080"/>
          </a:xfrm>
          <a:prstGeom prst="rect">
            <a:avLst/>
          </a:prstGeom>
          <a:noFill/>
          <a:ln/>
        </p:spPr>
        <p:txBody>
          <a:bodyPr wrap="square" lIns="0" tIns="0" rIns="0" bIns="0" rtlCol="0" anchor="ctr"/>
          <a:lstStyle/>
          <a:p>
            <a:pPr indent="0" marL="0">
              <a:buNone/>
            </a:pPr>
            <a:r>
              <a:rPr lang="en-US" sz="1400" dirty="0">
                <a:solidFill>
                  <a:srgbClr val="5A4A22"/>
                </a:solidFill>
                <a:latin typeface="Calibri" pitchFamily="34" charset="0"/>
                <a:ea typeface="Calibri" pitchFamily="34" charset="-122"/>
                <a:cs typeface="Calibri" pitchFamily="34" charset="-120"/>
              </a:rPr>
              <a:t>The site lets a student find their own schedule without an account, and to do that it has to show a list of names. It’s reversible — the cost of reversing it is giving every student a login. Your call, made knowing the trade.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FOUR LEVELS OF ACCESS</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Who can do what</a:t>
            </a:r>
            <a:endParaRPr lang="en-US" sz="3600" dirty="0"/>
          </a:p>
        </p:txBody>
      </p:sp>
      <p:sp>
        <p:nvSpPr>
          <p:cNvPr id="4" name="Shape 2"/>
          <p:cNvSpPr/>
          <p:nvPr/>
        </p:nvSpPr>
        <p:spPr>
          <a:xfrm>
            <a:off x="640080" y="1737360"/>
            <a:ext cx="10911535" cy="777240"/>
          </a:xfrm>
          <a:prstGeom prst="roundRect">
            <a:avLst>
              <a:gd name="adj" fmla="val 10588"/>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Text 3"/>
          <p:cNvSpPr/>
          <p:nvPr/>
        </p:nvSpPr>
        <p:spPr>
          <a:xfrm>
            <a:off x="960120" y="1828800"/>
            <a:ext cx="2834640" cy="59436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Owner</a:t>
            </a:r>
            <a:endParaRPr lang="en-US" sz="1900" dirty="0"/>
          </a:p>
        </p:txBody>
      </p:sp>
      <p:sp>
        <p:nvSpPr>
          <p:cNvPr id="6" name="Text 4"/>
          <p:cNvSpPr/>
          <p:nvPr/>
        </p:nvSpPr>
        <p:spPr>
          <a:xfrm>
            <a:off x="3886200" y="1828800"/>
            <a:ext cx="7345375" cy="594360"/>
          </a:xfrm>
          <a:prstGeom prst="rect">
            <a:avLst/>
          </a:prstGeom>
          <a:noFill/>
          <a:ln/>
        </p:spPr>
        <p:txBody>
          <a:bodyPr wrap="square" lIns="0" tIns="0" rIns="0" bIns="0" rtlCol="0" anchor="ctr"/>
          <a:lstStyle/>
          <a:p>
            <a:pPr indent="0" marL="0">
              <a:buNone/>
            </a:pPr>
            <a:r>
              <a:rPr lang="en-US" sz="1450" dirty="0">
                <a:solidFill>
                  <a:srgbClr val="17272B"/>
                </a:solidFill>
                <a:latin typeface="Calibri" pitchFamily="34" charset="0"/>
                <a:ea typeface="Calibri" pitchFamily="34" charset="-122"/>
                <a:cs typeface="Calibri" pitchFamily="34" charset="-120"/>
              </a:rPr>
              <a:t>One account. The only one that can add or remove people.</a:t>
            </a:r>
            <a:endParaRPr lang="en-US" sz="1450" dirty="0"/>
          </a:p>
        </p:txBody>
      </p:sp>
      <p:sp>
        <p:nvSpPr>
          <p:cNvPr id="7" name="Shape 5"/>
          <p:cNvSpPr/>
          <p:nvPr/>
        </p:nvSpPr>
        <p:spPr>
          <a:xfrm>
            <a:off x="640080" y="2642616"/>
            <a:ext cx="10911535" cy="777240"/>
          </a:xfrm>
          <a:prstGeom prst="roundRect">
            <a:avLst>
              <a:gd name="adj" fmla="val 10588"/>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8" name="Text 6"/>
          <p:cNvSpPr/>
          <p:nvPr/>
        </p:nvSpPr>
        <p:spPr>
          <a:xfrm>
            <a:off x="960120" y="2734056"/>
            <a:ext cx="2834640" cy="59436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Director</a:t>
            </a:r>
            <a:endParaRPr lang="en-US" sz="1900" dirty="0"/>
          </a:p>
        </p:txBody>
      </p:sp>
      <p:sp>
        <p:nvSpPr>
          <p:cNvPr id="9" name="Text 7"/>
          <p:cNvSpPr/>
          <p:nvPr/>
        </p:nvSpPr>
        <p:spPr>
          <a:xfrm>
            <a:off x="3886200" y="2734056"/>
            <a:ext cx="7345375" cy="594360"/>
          </a:xfrm>
          <a:prstGeom prst="rect">
            <a:avLst/>
          </a:prstGeom>
          <a:noFill/>
          <a:ln/>
        </p:spPr>
        <p:txBody>
          <a:bodyPr wrap="square" lIns="0" tIns="0" rIns="0" bIns="0" rtlCol="0" anchor="ctr"/>
          <a:lstStyle/>
          <a:p>
            <a:pPr indent="0" marL="0">
              <a:buNone/>
            </a:pPr>
            <a:r>
              <a:rPr lang="en-US" sz="1450" dirty="0">
                <a:solidFill>
                  <a:srgbClr val="17272B"/>
                </a:solidFill>
                <a:latin typeface="Calibri" pitchFamily="34" charset="0"/>
                <a:ea typeface="Calibri" pitchFamily="34" charset="-122"/>
                <a:cs typeface="Calibri" pitchFamily="34" charset="-120"/>
              </a:rPr>
              <a:t>Full editing everywhere except that access list. That’s the three of you.</a:t>
            </a:r>
            <a:endParaRPr lang="en-US" sz="1450" dirty="0"/>
          </a:p>
        </p:txBody>
      </p:sp>
      <p:sp>
        <p:nvSpPr>
          <p:cNvPr id="10" name="Shape 8"/>
          <p:cNvSpPr/>
          <p:nvPr/>
        </p:nvSpPr>
        <p:spPr>
          <a:xfrm>
            <a:off x="640080" y="3547872"/>
            <a:ext cx="10911535" cy="960120"/>
          </a:xfrm>
          <a:prstGeom prst="roundRect">
            <a:avLst>
              <a:gd name="adj" fmla="val 857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1" name="Text 9"/>
          <p:cNvSpPr/>
          <p:nvPr/>
        </p:nvSpPr>
        <p:spPr>
          <a:xfrm>
            <a:off x="960120" y="3639312"/>
            <a:ext cx="2834640" cy="777240"/>
          </a:xfrm>
          <a:prstGeom prst="rect">
            <a:avLst/>
          </a:prstGeom>
          <a:noFill/>
          <a:ln/>
        </p:spPr>
        <p:txBody>
          <a:bodyPr wrap="square" lIns="0" tIns="0" rIns="0" bIns="0" rtlCol="0" anchor="ctr"/>
          <a:lstStyle/>
          <a:p>
            <a:pPr indent="0" marL="0">
              <a:buNone/>
            </a:pPr>
            <a:r>
              <a:rPr lang="en-US" sz="1900" b="1" dirty="0">
                <a:solidFill>
                  <a:srgbClr val="0A5560"/>
                </a:solidFill>
                <a:latin typeface="Calibri" pitchFamily="34" charset="0"/>
                <a:ea typeface="Calibri" pitchFamily="34" charset="-122"/>
                <a:cs typeface="Calibri" pitchFamily="34" charset="-120"/>
              </a:rPr>
              <a:t>Teacher</a:t>
            </a:r>
            <a:endParaRPr lang="en-US" sz="1900" dirty="0"/>
          </a:p>
        </p:txBody>
      </p:sp>
      <p:sp>
        <p:nvSpPr>
          <p:cNvPr id="12" name="Text 10"/>
          <p:cNvSpPr/>
          <p:nvPr/>
        </p:nvSpPr>
        <p:spPr>
          <a:xfrm>
            <a:off x="3886200" y="3639312"/>
            <a:ext cx="7345375" cy="777240"/>
          </a:xfrm>
          <a:prstGeom prst="rect">
            <a:avLst/>
          </a:prstGeom>
          <a:noFill/>
          <a:ln/>
        </p:spPr>
        <p:txBody>
          <a:bodyPr wrap="square" lIns="0" tIns="0" rIns="0" bIns="0" rtlCol="0" anchor="ctr"/>
          <a:lstStyle/>
          <a:p>
            <a:pPr indent="0" marL="0">
              <a:buNone/>
            </a:pPr>
            <a:r>
              <a:rPr lang="en-US" sz="1450" dirty="0">
                <a:solidFill>
                  <a:srgbClr val="17272B"/>
                </a:solidFill>
                <a:latin typeface="Calibri" pitchFamily="34" charset="0"/>
                <a:ea typeface="Calibri" pitchFamily="34" charset="-122"/>
                <a:cs typeface="Calibri" pitchFamily="34" charset="-120"/>
              </a:rPr>
              <a:t>Schedules private lessons for their own assigned students — nothing else. A clash with your rehearsal must be acknowledged, then shows on your roll screen as a documented pull-out.</a:t>
            </a:r>
            <a:endParaRPr lang="en-US" sz="1450" dirty="0"/>
          </a:p>
        </p:txBody>
      </p:sp>
      <p:sp>
        <p:nvSpPr>
          <p:cNvPr id="13" name="Shape 11"/>
          <p:cNvSpPr/>
          <p:nvPr/>
        </p:nvSpPr>
        <p:spPr>
          <a:xfrm>
            <a:off x="640080" y="4636008"/>
            <a:ext cx="10911535" cy="960120"/>
          </a:xfrm>
          <a:prstGeom prst="roundRect">
            <a:avLst>
              <a:gd name="adj" fmla="val 8571"/>
            </a:avLst>
          </a:prstGeom>
          <a:solidFill>
            <a:srgbClr val="EEF6F7"/>
          </a:solidFill>
          <a:ln w="12700">
            <a:solidFill>
              <a:srgbClr val="0D7E8E"/>
            </a:solidFill>
            <a:prstDash val="solid"/>
          </a:ln>
          <a:effectLst>
            <a:outerShdw sx="100000" sy="100000" kx="0" ky="0" algn="bl" rotWithShape="0" blurRad="127000" dist="25400" dir="5400000">
              <a:srgbClr val="9FB3B7">
                <a:alpha val="28000"/>
              </a:srgbClr>
            </a:outerShdw>
          </a:effectLst>
        </p:spPr>
      </p:sp>
      <p:sp>
        <p:nvSpPr>
          <p:cNvPr id="14" name="Text 12"/>
          <p:cNvSpPr/>
          <p:nvPr/>
        </p:nvSpPr>
        <p:spPr>
          <a:xfrm>
            <a:off x="960120" y="4727448"/>
            <a:ext cx="2834640" cy="777240"/>
          </a:xfrm>
          <a:prstGeom prst="rect">
            <a:avLst/>
          </a:prstGeom>
          <a:noFill/>
          <a:ln/>
        </p:spPr>
        <p:txBody>
          <a:bodyPr wrap="square" lIns="0" tIns="0" rIns="0" bIns="0" rtlCol="0" anchor="ctr"/>
          <a:lstStyle/>
          <a:p>
            <a:pPr indent="0" marL="0">
              <a:buNone/>
            </a:pPr>
            <a:r>
              <a:rPr lang="en-US" sz="1900" b="1" dirty="0">
                <a:solidFill>
                  <a:srgbClr val="0D7E8E"/>
                </a:solidFill>
                <a:latin typeface="Calibri" pitchFamily="34" charset="0"/>
                <a:ea typeface="Calibri" pitchFamily="34" charset="-122"/>
                <a:cs typeface="Calibri" pitchFamily="34" charset="-120"/>
              </a:rPr>
              <a:t>Personnel Assistant</a:t>
            </a:r>
            <a:endParaRPr lang="en-US" sz="1900" dirty="0"/>
          </a:p>
        </p:txBody>
      </p:sp>
      <p:sp>
        <p:nvSpPr>
          <p:cNvPr id="15" name="Text 13"/>
          <p:cNvSpPr/>
          <p:nvPr/>
        </p:nvSpPr>
        <p:spPr>
          <a:xfrm>
            <a:off x="3886200" y="4727448"/>
            <a:ext cx="7345375" cy="777240"/>
          </a:xfrm>
          <a:prstGeom prst="rect">
            <a:avLst/>
          </a:prstGeom>
          <a:noFill/>
          <a:ln/>
        </p:spPr>
        <p:txBody>
          <a:bodyPr wrap="square" lIns="0" tIns="0" rIns="0" bIns="0" rtlCol="0" anchor="ctr"/>
          <a:lstStyle/>
          <a:p>
            <a:pPr indent="0" marL="0">
              <a:buNone/>
            </a:pPr>
            <a:r>
              <a:rPr lang="en-US" sz="1450" dirty="0">
                <a:solidFill>
                  <a:srgbClr val="17272B"/>
                </a:solidFill>
                <a:latin typeface="Calibri" pitchFamily="34" charset="0"/>
                <a:ea typeface="Calibri" pitchFamily="34" charset="-122"/>
                <a:cs typeface="Calibri" pitchFamily="34" charset="-120"/>
              </a:rPr>
              <a:t>Takes roll for the ensembles you assign — and nothing else. No contact details. No grades. No notes. Every mark stamped with their name.</a:t>
            </a:r>
            <a:endParaRPr lang="en-US" sz="1450" dirty="0"/>
          </a:p>
        </p:txBody>
      </p:sp>
      <p:sp>
        <p:nvSpPr>
          <p:cNvPr id="16" name="Text 14"/>
          <p:cNvSpPr/>
          <p:nvPr/>
        </p:nvSpPr>
        <p:spPr>
          <a:xfrm>
            <a:off x="640080" y="5806440"/>
            <a:ext cx="10911535" cy="502920"/>
          </a:xfrm>
          <a:prstGeom prst="rect">
            <a:avLst/>
          </a:prstGeom>
          <a:noFill/>
          <a:ln/>
        </p:spPr>
        <p:txBody>
          <a:bodyPr wrap="square" lIns="0" tIns="0" rIns="0" bIns="0" rtlCol="0" anchor="ctr"/>
          <a:lstStyle/>
          <a:p>
            <a:pPr indent="0" marL="0">
              <a:buNone/>
            </a:pPr>
            <a:r>
              <a:rPr lang="en-US" sz="1500" i="1" dirty="0">
                <a:solidFill>
                  <a:srgbClr val="0A5560"/>
                </a:solidFill>
                <a:latin typeface="Calibri" pitchFamily="34" charset="0"/>
                <a:ea typeface="Calibri" pitchFamily="34" charset="-122"/>
                <a:cs typeface="Calibri" pitchFamily="34" charset="-120"/>
              </a:rPr>
              <a:t>A student aide can take attendance for you without seeing a single phone number. Access is added or removed instantly, from inside the app.</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THE BORING QUESTIONS</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Where it lives, what it costs</a:t>
            </a:r>
            <a:endParaRPr lang="en-US" sz="3600" dirty="0"/>
          </a:p>
        </p:txBody>
      </p:sp>
      <p:sp>
        <p:nvSpPr>
          <p:cNvPr id="4" name="Shape 2"/>
          <p:cNvSpPr/>
          <p:nvPr/>
        </p:nvSpPr>
        <p:spPr>
          <a:xfrm>
            <a:off x="640080" y="1920240"/>
            <a:ext cx="2697480" cy="2743200"/>
          </a:xfrm>
          <a:prstGeom prst="roundRect">
            <a:avLst>
              <a:gd name="adj" fmla="val 305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Text 3"/>
          <p:cNvSpPr/>
          <p:nvPr/>
        </p:nvSpPr>
        <p:spPr>
          <a:xfrm>
            <a:off x="896112" y="2148840"/>
            <a:ext cx="2185416" cy="731520"/>
          </a:xfrm>
          <a:prstGeom prst="rect">
            <a:avLst/>
          </a:prstGeom>
          <a:noFill/>
          <a:ln/>
        </p:spPr>
        <p:txBody>
          <a:bodyPr wrap="square" lIns="0" tIns="0" rIns="0" bIns="0" rtlCol="0" anchor="ctr"/>
          <a:lstStyle/>
          <a:p>
            <a:pPr indent="0" marL="0">
              <a:buNone/>
            </a:pPr>
            <a:r>
              <a:rPr lang="en-US" sz="2000" b="1" dirty="0">
                <a:solidFill>
                  <a:srgbClr val="0D7E8E"/>
                </a:solidFill>
                <a:latin typeface="Cambria" pitchFamily="34" charset="0"/>
                <a:ea typeface="Cambria" pitchFamily="34" charset="-122"/>
                <a:cs typeface="Cambria" pitchFamily="34" charset="-120"/>
              </a:rPr>
              <a:t>No license</a:t>
            </a:r>
            <a:endParaRPr lang="en-US" sz="2000" dirty="0"/>
          </a:p>
        </p:txBody>
      </p:sp>
      <p:sp>
        <p:nvSpPr>
          <p:cNvPr id="6" name="Text 4"/>
          <p:cNvSpPr/>
          <p:nvPr/>
        </p:nvSpPr>
        <p:spPr>
          <a:xfrm>
            <a:off x="896112" y="2971800"/>
            <a:ext cx="2185416" cy="1554480"/>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No subscription, no per-seat fee. Free hosting tiers as configured today.</a:t>
            </a:r>
            <a:endParaRPr lang="en-US" sz="1400" dirty="0"/>
          </a:p>
        </p:txBody>
      </p:sp>
      <p:sp>
        <p:nvSpPr>
          <p:cNvPr id="7" name="Shape 5"/>
          <p:cNvSpPr/>
          <p:nvPr/>
        </p:nvSpPr>
        <p:spPr>
          <a:xfrm>
            <a:off x="3378098" y="1920240"/>
            <a:ext cx="2697480" cy="2743200"/>
          </a:xfrm>
          <a:prstGeom prst="roundRect">
            <a:avLst>
              <a:gd name="adj" fmla="val 305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8" name="Text 6"/>
          <p:cNvSpPr/>
          <p:nvPr/>
        </p:nvSpPr>
        <p:spPr>
          <a:xfrm>
            <a:off x="3634130" y="2148840"/>
            <a:ext cx="2185416" cy="731520"/>
          </a:xfrm>
          <a:prstGeom prst="rect">
            <a:avLst/>
          </a:prstGeom>
          <a:noFill/>
          <a:ln/>
        </p:spPr>
        <p:txBody>
          <a:bodyPr wrap="square" lIns="0" tIns="0" rIns="0" bIns="0" rtlCol="0" anchor="ctr"/>
          <a:lstStyle/>
          <a:p>
            <a:pPr indent="0" marL="0">
              <a:buNone/>
            </a:pPr>
            <a:r>
              <a:rPr lang="en-US" sz="2000" b="1" dirty="0">
                <a:solidFill>
                  <a:srgbClr val="0D7E8E"/>
                </a:solidFill>
                <a:latin typeface="Cambria" pitchFamily="34" charset="0"/>
                <a:ea typeface="Cambria" pitchFamily="34" charset="-122"/>
                <a:cs typeface="Cambria" pitchFamily="34" charset="-120"/>
              </a:rPr>
              <a:t>No server</a:t>
            </a:r>
            <a:endParaRPr lang="en-US" sz="2000" dirty="0"/>
          </a:p>
        </p:txBody>
      </p:sp>
      <p:sp>
        <p:nvSpPr>
          <p:cNvPr id="9" name="Text 7"/>
          <p:cNvSpPr/>
          <p:nvPr/>
        </p:nvSpPr>
        <p:spPr>
          <a:xfrm>
            <a:off x="3634130" y="2971800"/>
            <a:ext cx="2185416" cy="1554480"/>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Nothing in a closet. Nothing to back up by hand.</a:t>
            </a:r>
            <a:endParaRPr lang="en-US" sz="1400" dirty="0"/>
          </a:p>
        </p:txBody>
      </p:sp>
      <p:sp>
        <p:nvSpPr>
          <p:cNvPr id="10" name="Shape 8"/>
          <p:cNvSpPr/>
          <p:nvPr/>
        </p:nvSpPr>
        <p:spPr>
          <a:xfrm>
            <a:off x="6116117" y="1920240"/>
            <a:ext cx="2697480" cy="2743200"/>
          </a:xfrm>
          <a:prstGeom prst="roundRect">
            <a:avLst>
              <a:gd name="adj" fmla="val 305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1" name="Text 9"/>
          <p:cNvSpPr/>
          <p:nvPr/>
        </p:nvSpPr>
        <p:spPr>
          <a:xfrm>
            <a:off x="6372149" y="2148840"/>
            <a:ext cx="2185416" cy="731520"/>
          </a:xfrm>
          <a:prstGeom prst="rect">
            <a:avLst/>
          </a:prstGeom>
          <a:noFill/>
          <a:ln/>
        </p:spPr>
        <p:txBody>
          <a:bodyPr wrap="square" lIns="0" tIns="0" rIns="0" bIns="0" rtlCol="0" anchor="ctr"/>
          <a:lstStyle/>
          <a:p>
            <a:pPr indent="0" marL="0">
              <a:buNone/>
            </a:pPr>
            <a:r>
              <a:rPr lang="en-US" sz="2000" b="1" dirty="0">
                <a:solidFill>
                  <a:srgbClr val="0D7E8E"/>
                </a:solidFill>
                <a:latin typeface="Cambria" pitchFamily="34" charset="0"/>
                <a:ea typeface="Cambria" pitchFamily="34" charset="-122"/>
                <a:cs typeface="Cambria" pitchFamily="34" charset="-120"/>
              </a:rPr>
              <a:t>Rebuilds itself</a:t>
            </a:r>
            <a:endParaRPr lang="en-US" sz="2000" dirty="0"/>
          </a:p>
        </p:txBody>
      </p:sp>
      <p:sp>
        <p:nvSpPr>
          <p:cNvPr id="12" name="Text 10"/>
          <p:cNvSpPr/>
          <p:nvPr/>
        </p:nvSpPr>
        <p:spPr>
          <a:xfrm>
            <a:off x="6372149" y="2971800"/>
            <a:ext cx="2185416" cy="1554480"/>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The site and the calendar feeds refresh on a schedule.</a:t>
            </a:r>
            <a:endParaRPr lang="en-US" sz="1400" dirty="0"/>
          </a:p>
        </p:txBody>
      </p:sp>
      <p:sp>
        <p:nvSpPr>
          <p:cNvPr id="13" name="Shape 11"/>
          <p:cNvSpPr/>
          <p:nvPr/>
        </p:nvSpPr>
        <p:spPr>
          <a:xfrm>
            <a:off x="8854135" y="1920240"/>
            <a:ext cx="2697480" cy="2743200"/>
          </a:xfrm>
          <a:prstGeom prst="roundRect">
            <a:avLst>
              <a:gd name="adj" fmla="val 3051"/>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4" name="Text 12"/>
          <p:cNvSpPr/>
          <p:nvPr/>
        </p:nvSpPr>
        <p:spPr>
          <a:xfrm>
            <a:off x="9110167" y="2148840"/>
            <a:ext cx="2185416" cy="731520"/>
          </a:xfrm>
          <a:prstGeom prst="rect">
            <a:avLst/>
          </a:prstGeom>
          <a:noFill/>
          <a:ln/>
        </p:spPr>
        <p:txBody>
          <a:bodyPr wrap="square" lIns="0" tIns="0" rIns="0" bIns="0" rtlCol="0" anchor="ctr"/>
          <a:lstStyle/>
          <a:p>
            <a:pPr indent="0" marL="0">
              <a:buNone/>
            </a:pPr>
            <a:r>
              <a:rPr lang="en-US" sz="2000" b="1" dirty="0">
                <a:solidFill>
                  <a:srgbClr val="0D7E8E"/>
                </a:solidFill>
                <a:latin typeface="Cambria" pitchFamily="34" charset="0"/>
                <a:ea typeface="Cambria" pitchFamily="34" charset="-122"/>
                <a:cs typeface="Cambria" pitchFamily="34" charset="-120"/>
              </a:rPr>
              <a:t>Installs like an app</a:t>
            </a:r>
            <a:endParaRPr lang="en-US" sz="2000" dirty="0"/>
          </a:p>
        </p:txBody>
      </p:sp>
      <p:sp>
        <p:nvSpPr>
          <p:cNvPr id="15" name="Text 13"/>
          <p:cNvSpPr/>
          <p:nvPr/>
        </p:nvSpPr>
        <p:spPr>
          <a:xfrm>
            <a:off x="9110167" y="2971800"/>
            <a:ext cx="2185416" cy="1554480"/>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Add it to a home screen on a phone or iPad. It opens even on a bad connection.</a:t>
            </a:r>
            <a:endParaRPr lang="en-US" sz="1400" dirty="0"/>
          </a:p>
        </p:txBody>
      </p:sp>
      <p:sp>
        <p:nvSpPr>
          <p:cNvPr id="16" name="Shape 14"/>
          <p:cNvSpPr/>
          <p:nvPr/>
        </p:nvSpPr>
        <p:spPr>
          <a:xfrm>
            <a:off x="640080" y="5029200"/>
            <a:ext cx="10911535" cy="822960"/>
          </a:xfrm>
          <a:prstGeom prst="roundRect">
            <a:avLst>
              <a:gd name="adj" fmla="val 11111"/>
            </a:avLst>
          </a:prstGeom>
          <a:solidFill>
            <a:srgbClr val="FBF4E3"/>
          </a:solidFill>
          <a:ln w="12700">
            <a:solidFill>
              <a:srgbClr val="E8D9B0"/>
            </a:solidFill>
            <a:prstDash val="solid"/>
          </a:ln>
        </p:spPr>
      </p:sp>
      <p:sp>
        <p:nvSpPr>
          <p:cNvPr id="17" name="Text 15"/>
          <p:cNvSpPr/>
          <p:nvPr/>
        </p:nvSpPr>
        <p:spPr>
          <a:xfrm>
            <a:off x="960120" y="5029200"/>
            <a:ext cx="10271455" cy="822960"/>
          </a:xfrm>
          <a:prstGeom prst="rect">
            <a:avLst/>
          </a:prstGeom>
          <a:noFill/>
          <a:ln/>
        </p:spPr>
        <p:txBody>
          <a:bodyPr wrap="square" lIns="0" tIns="0" rIns="0" bIns="0" rtlCol="0" anchor="ctr"/>
          <a:lstStyle/>
          <a:p>
            <a:pPr indent="0" marL="0">
              <a:buNone/>
            </a:pPr>
            <a:r>
              <a:rPr lang="en-US" sz="1550" dirty="0">
                <a:solidFill>
                  <a:srgbClr val="5A4A22"/>
                </a:solidFill>
                <a:latin typeface="Calibri" pitchFamily="34" charset="0"/>
                <a:ea typeface="Calibri" pitchFamily="34" charset="-122"/>
                <a:cs typeface="Calibri" pitchFamily="34" charset="-120"/>
              </a:rPr>
              <a:t>Said honestly: free tiers depend on usage and on the vendors’ terms. I’m not promising “free forever” — I’m telling you there’s nothing to pay today.</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THE EFFICIENCY ARGUMENT</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Old way → new way</a:t>
            </a:r>
            <a:endParaRPr lang="en-US" sz="3600" dirty="0"/>
          </a:p>
        </p:txBody>
      </p:sp>
      <p:sp>
        <p:nvSpPr>
          <p:cNvPr id="4" name="Text 2"/>
          <p:cNvSpPr/>
          <p:nvPr/>
        </p:nvSpPr>
        <p:spPr>
          <a:xfrm>
            <a:off x="4297680" y="1691640"/>
            <a:ext cx="3749040" cy="274320"/>
          </a:xfrm>
          <a:prstGeom prst="rect">
            <a:avLst/>
          </a:prstGeom>
          <a:noFill/>
          <a:ln/>
        </p:spPr>
        <p:txBody>
          <a:bodyPr wrap="square" lIns="0" tIns="0" rIns="0" bIns="0" rtlCol="0" anchor="ctr"/>
          <a:lstStyle/>
          <a:p>
            <a:pPr indent="0" marL="0">
              <a:buNone/>
            </a:pPr>
            <a:r>
              <a:rPr lang="en-US" sz="1250" b="1" spc="150" kern="0" dirty="0">
                <a:solidFill>
                  <a:srgbClr val="5C6E73"/>
                </a:solidFill>
                <a:latin typeface="Calibri" pitchFamily="34" charset="0"/>
                <a:ea typeface="Calibri" pitchFamily="34" charset="-122"/>
                <a:cs typeface="Calibri" pitchFamily="34" charset="-120"/>
              </a:rPr>
              <a:t>Before</a:t>
            </a:r>
            <a:endParaRPr lang="en-US" sz="1250" dirty="0"/>
          </a:p>
        </p:txBody>
      </p:sp>
      <p:sp>
        <p:nvSpPr>
          <p:cNvPr id="5" name="Text 3"/>
          <p:cNvSpPr/>
          <p:nvPr/>
        </p:nvSpPr>
        <p:spPr>
          <a:xfrm>
            <a:off x="8229600" y="1691640"/>
            <a:ext cx="3322015" cy="274320"/>
          </a:xfrm>
          <a:prstGeom prst="rect">
            <a:avLst/>
          </a:prstGeom>
          <a:noFill/>
          <a:ln/>
        </p:spPr>
        <p:txBody>
          <a:bodyPr wrap="square" lIns="0" tIns="0" rIns="0" bIns="0" rtlCol="0" anchor="ctr"/>
          <a:lstStyle/>
          <a:p>
            <a:pPr indent="0" marL="0">
              <a:buNone/>
            </a:pPr>
            <a:r>
              <a:rPr lang="en-US" sz="1250" b="1" spc="150" kern="0" dirty="0">
                <a:solidFill>
                  <a:srgbClr val="0D7E8E"/>
                </a:solidFill>
                <a:latin typeface="Calibri" pitchFamily="34" charset="0"/>
                <a:ea typeface="Calibri" pitchFamily="34" charset="-122"/>
                <a:cs typeface="Calibri" pitchFamily="34" charset="-120"/>
              </a:rPr>
              <a:t>NOW</a:t>
            </a:r>
            <a:endParaRPr lang="en-US" sz="1250" dirty="0"/>
          </a:p>
        </p:txBody>
      </p:sp>
      <p:sp>
        <p:nvSpPr>
          <p:cNvPr id="6" name="Shape 4"/>
          <p:cNvSpPr/>
          <p:nvPr/>
        </p:nvSpPr>
        <p:spPr>
          <a:xfrm>
            <a:off x="502920" y="1984248"/>
            <a:ext cx="11185855" cy="658368"/>
          </a:xfrm>
          <a:prstGeom prst="roundRect">
            <a:avLst>
              <a:gd name="adj" fmla="val 8333"/>
            </a:avLst>
          </a:prstGeom>
          <a:solidFill>
            <a:srgbClr val="F7FAFB"/>
          </a:solidFill>
          <a:ln w="12700">
            <a:solidFill>
              <a:srgbClr val="F7FAFB"/>
            </a:solidFill>
            <a:prstDash val="solid"/>
          </a:ln>
        </p:spPr>
      </p:sp>
      <p:sp>
        <p:nvSpPr>
          <p:cNvPr id="7" name="Text 5"/>
          <p:cNvSpPr/>
          <p:nvPr/>
        </p:nvSpPr>
        <p:spPr>
          <a:xfrm>
            <a:off x="640080" y="2057400"/>
            <a:ext cx="3474720" cy="512064"/>
          </a:xfrm>
          <a:prstGeom prst="rect">
            <a:avLst/>
          </a:prstGeom>
          <a:noFill/>
          <a:ln/>
        </p:spPr>
        <p:txBody>
          <a:bodyPr wrap="square" lIns="0" tIns="0" rIns="0" bIns="0" rtlCol="0" anchor="ctr"/>
          <a:lstStyle/>
          <a:p>
            <a:pPr indent="0" marL="0">
              <a:buNone/>
            </a:pPr>
            <a:r>
              <a:rPr lang="en-US" sz="1500" b="1" dirty="0">
                <a:solidFill>
                  <a:srgbClr val="17272B"/>
                </a:solidFill>
                <a:latin typeface="Calibri" pitchFamily="34" charset="0"/>
                <a:ea typeface="Calibri" pitchFamily="34" charset="-122"/>
                <a:cs typeface="Calibri" pitchFamily="34" charset="-120"/>
              </a:rPr>
              <a:t>Attendance</a:t>
            </a:r>
            <a:endParaRPr lang="en-US" sz="1500" dirty="0"/>
          </a:p>
        </p:txBody>
      </p:sp>
      <p:sp>
        <p:nvSpPr>
          <p:cNvPr id="8" name="Text 6"/>
          <p:cNvSpPr/>
          <p:nvPr/>
        </p:nvSpPr>
        <p:spPr>
          <a:xfrm>
            <a:off x="4297680" y="2057400"/>
            <a:ext cx="3749040" cy="512064"/>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Written down, typed up later</a:t>
            </a:r>
            <a:endParaRPr lang="en-US" sz="1400" dirty="0"/>
          </a:p>
        </p:txBody>
      </p:sp>
      <p:sp>
        <p:nvSpPr>
          <p:cNvPr id="9" name="Text 7"/>
          <p:cNvSpPr/>
          <p:nvPr/>
        </p:nvSpPr>
        <p:spPr>
          <a:xfrm>
            <a:off x="8229600" y="2057400"/>
            <a:ext cx="3322015" cy="512064"/>
          </a:xfrm>
          <a:prstGeom prst="rect">
            <a:avLst/>
          </a:prstGeom>
          <a:noFill/>
          <a:ln/>
        </p:spPr>
        <p:txBody>
          <a:bodyPr wrap="square" lIns="0" tIns="0" rIns="0" bIns="0" rtlCol="0" anchor="ctr"/>
          <a:lstStyle/>
          <a:p>
            <a:pPr indent="0" marL="0">
              <a:buNone/>
            </a:pPr>
            <a:r>
              <a:rPr lang="en-US" sz="1400" b="1" dirty="0">
                <a:solidFill>
                  <a:srgbClr val="0A5560"/>
                </a:solidFill>
                <a:latin typeface="Calibri" pitchFamily="34" charset="0"/>
                <a:ea typeface="Calibri" pitchFamily="34" charset="-122"/>
                <a:cs typeface="Calibri" pitchFamily="34" charset="-120"/>
              </a:rPr>
              <a:t>Tapped once, in the room, on your phone</a:t>
            </a:r>
            <a:endParaRPr lang="en-US" sz="1400" dirty="0"/>
          </a:p>
        </p:txBody>
      </p:sp>
      <p:sp>
        <p:nvSpPr>
          <p:cNvPr id="10" name="Text 8"/>
          <p:cNvSpPr/>
          <p:nvPr/>
        </p:nvSpPr>
        <p:spPr>
          <a:xfrm>
            <a:off x="640080" y="2770632"/>
            <a:ext cx="3474720" cy="512064"/>
          </a:xfrm>
          <a:prstGeom prst="rect">
            <a:avLst/>
          </a:prstGeom>
          <a:noFill/>
          <a:ln/>
        </p:spPr>
        <p:txBody>
          <a:bodyPr wrap="square" lIns="0" tIns="0" rIns="0" bIns="0" rtlCol="0" anchor="ctr"/>
          <a:lstStyle/>
          <a:p>
            <a:pPr indent="0" marL="0">
              <a:buNone/>
            </a:pPr>
            <a:r>
              <a:rPr lang="en-US" sz="1500" b="1" dirty="0">
                <a:solidFill>
                  <a:srgbClr val="17272B"/>
                </a:solidFill>
                <a:latin typeface="Calibri" pitchFamily="34" charset="0"/>
                <a:ea typeface="Calibri" pitchFamily="34" charset="-122"/>
                <a:cs typeface="Calibri" pitchFamily="34" charset="-120"/>
              </a:rPr>
              <a:t>“Is rehearsal cancelled?”</a:t>
            </a:r>
            <a:endParaRPr lang="en-US" sz="1500" dirty="0"/>
          </a:p>
        </p:txBody>
      </p:sp>
      <p:sp>
        <p:nvSpPr>
          <p:cNvPr id="11" name="Text 9"/>
          <p:cNvSpPr/>
          <p:nvPr/>
        </p:nvSpPr>
        <p:spPr>
          <a:xfrm>
            <a:off x="4297680" y="2770632"/>
            <a:ext cx="3749040" cy="512064"/>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Individual replies, all evening</a:t>
            </a:r>
            <a:endParaRPr lang="en-US" sz="1400" dirty="0"/>
          </a:p>
        </p:txBody>
      </p:sp>
      <p:sp>
        <p:nvSpPr>
          <p:cNvPr id="12" name="Text 10"/>
          <p:cNvSpPr/>
          <p:nvPr/>
        </p:nvSpPr>
        <p:spPr>
          <a:xfrm>
            <a:off x="8229600" y="2770632"/>
            <a:ext cx="3322015" cy="512064"/>
          </a:xfrm>
          <a:prstGeom prst="rect">
            <a:avLst/>
          </a:prstGeom>
          <a:noFill/>
          <a:ln/>
        </p:spPr>
        <p:txBody>
          <a:bodyPr wrap="square" lIns="0" tIns="0" rIns="0" bIns="0" rtlCol="0" anchor="ctr"/>
          <a:lstStyle/>
          <a:p>
            <a:pPr indent="0" marL="0">
              <a:buNone/>
            </a:pPr>
            <a:r>
              <a:rPr lang="en-US" sz="1400" b="1" dirty="0">
                <a:solidFill>
                  <a:srgbClr val="0A5560"/>
                </a:solidFill>
                <a:latin typeface="Calibri" pitchFamily="34" charset="0"/>
                <a:ea typeface="Calibri" pitchFamily="34" charset="-122"/>
                <a:cs typeface="Calibri" pitchFamily="34" charset="-120"/>
              </a:rPr>
              <a:t>One edit → a banner everyone sees</a:t>
            </a:r>
            <a:endParaRPr lang="en-US" sz="1400" dirty="0"/>
          </a:p>
        </p:txBody>
      </p:sp>
      <p:sp>
        <p:nvSpPr>
          <p:cNvPr id="13" name="Shape 11"/>
          <p:cNvSpPr/>
          <p:nvPr/>
        </p:nvSpPr>
        <p:spPr>
          <a:xfrm>
            <a:off x="502920" y="3410712"/>
            <a:ext cx="11185855" cy="658368"/>
          </a:xfrm>
          <a:prstGeom prst="roundRect">
            <a:avLst>
              <a:gd name="adj" fmla="val 8333"/>
            </a:avLst>
          </a:prstGeom>
          <a:solidFill>
            <a:srgbClr val="F7FAFB"/>
          </a:solidFill>
          <a:ln w="12700">
            <a:solidFill>
              <a:srgbClr val="F7FAFB"/>
            </a:solidFill>
            <a:prstDash val="solid"/>
          </a:ln>
        </p:spPr>
      </p:sp>
      <p:sp>
        <p:nvSpPr>
          <p:cNvPr id="14" name="Text 12"/>
          <p:cNvSpPr/>
          <p:nvPr/>
        </p:nvSpPr>
        <p:spPr>
          <a:xfrm>
            <a:off x="640080" y="3483864"/>
            <a:ext cx="3474720" cy="512064"/>
          </a:xfrm>
          <a:prstGeom prst="rect">
            <a:avLst/>
          </a:prstGeom>
          <a:noFill/>
          <a:ln/>
        </p:spPr>
        <p:txBody>
          <a:bodyPr wrap="square" lIns="0" tIns="0" rIns="0" bIns="0" rtlCol="0" anchor="ctr"/>
          <a:lstStyle/>
          <a:p>
            <a:pPr indent="0" marL="0">
              <a:buNone/>
            </a:pPr>
            <a:r>
              <a:rPr lang="en-US" sz="1500" b="1" dirty="0">
                <a:solidFill>
                  <a:srgbClr val="17272B"/>
                </a:solidFill>
                <a:latin typeface="Calibri" pitchFamily="34" charset="0"/>
                <a:ea typeface="Calibri" pitchFamily="34" charset="-122"/>
                <a:cs typeface="Calibri" pitchFamily="34" charset="-120"/>
              </a:rPr>
              <a:t>A student subbing in</a:t>
            </a:r>
            <a:endParaRPr lang="en-US" sz="1500" dirty="0"/>
          </a:p>
        </p:txBody>
      </p:sp>
      <p:sp>
        <p:nvSpPr>
          <p:cNvPr id="15" name="Text 13"/>
          <p:cNvSpPr/>
          <p:nvPr/>
        </p:nvSpPr>
        <p:spPr>
          <a:xfrm>
            <a:off x="4297680" y="3483864"/>
            <a:ext cx="3749040" cy="512064"/>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Roster edited, and remembered back</a:t>
            </a:r>
            <a:endParaRPr lang="en-US" sz="1400" dirty="0"/>
          </a:p>
        </p:txBody>
      </p:sp>
      <p:sp>
        <p:nvSpPr>
          <p:cNvPr id="16" name="Text 14"/>
          <p:cNvSpPr/>
          <p:nvPr/>
        </p:nvSpPr>
        <p:spPr>
          <a:xfrm>
            <a:off x="8229600" y="3483864"/>
            <a:ext cx="3322015" cy="512064"/>
          </a:xfrm>
          <a:prstGeom prst="rect">
            <a:avLst/>
          </a:prstGeom>
          <a:noFill/>
          <a:ln/>
        </p:spPr>
        <p:txBody>
          <a:bodyPr wrap="square" lIns="0" tIns="0" rIns="0" bIns="0" rtlCol="0" anchor="ctr"/>
          <a:lstStyle/>
          <a:p>
            <a:pPr indent="0" marL="0">
              <a:buNone/>
            </a:pPr>
            <a:r>
              <a:rPr lang="en-US" sz="1400" b="1" dirty="0">
                <a:solidFill>
                  <a:srgbClr val="0A5560"/>
                </a:solidFill>
                <a:latin typeface="Calibri" pitchFamily="34" charset="0"/>
                <a:ea typeface="Calibri" pitchFamily="34" charset="-122"/>
                <a:cs typeface="Calibri" pitchFamily="34" charset="-120"/>
              </a:rPr>
              <a:t>Temporary, reasoned, self-reversing</a:t>
            </a:r>
            <a:endParaRPr lang="en-US" sz="1400" dirty="0"/>
          </a:p>
        </p:txBody>
      </p:sp>
      <p:sp>
        <p:nvSpPr>
          <p:cNvPr id="17" name="Text 15"/>
          <p:cNvSpPr/>
          <p:nvPr/>
        </p:nvSpPr>
        <p:spPr>
          <a:xfrm>
            <a:off x="640080" y="4197096"/>
            <a:ext cx="3474720" cy="512064"/>
          </a:xfrm>
          <a:prstGeom prst="rect">
            <a:avLst/>
          </a:prstGeom>
          <a:noFill/>
          <a:ln/>
        </p:spPr>
        <p:txBody>
          <a:bodyPr wrap="square" lIns="0" tIns="0" rIns="0" bIns="0" rtlCol="0" anchor="ctr"/>
          <a:lstStyle/>
          <a:p>
            <a:pPr indent="0" marL="0">
              <a:buNone/>
            </a:pPr>
            <a:r>
              <a:rPr lang="en-US" sz="1500" b="1" dirty="0">
                <a:solidFill>
                  <a:srgbClr val="17272B"/>
                </a:solidFill>
                <a:latin typeface="Calibri" pitchFamily="34" charset="0"/>
                <a:ea typeface="Calibri" pitchFamily="34" charset="-122"/>
                <a:cs typeface="Calibri" pitchFamily="34" charset="-120"/>
              </a:rPr>
              <a:t>The concert program</a:t>
            </a:r>
            <a:endParaRPr lang="en-US" sz="1500" dirty="0"/>
          </a:p>
        </p:txBody>
      </p:sp>
      <p:sp>
        <p:nvSpPr>
          <p:cNvPr id="18" name="Text 16"/>
          <p:cNvSpPr/>
          <p:nvPr/>
        </p:nvSpPr>
        <p:spPr>
          <a:xfrm>
            <a:off x="4297680" y="4197096"/>
            <a:ext cx="3749040" cy="512064"/>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A separate document, retyped</a:t>
            </a:r>
            <a:endParaRPr lang="en-US" sz="1400" dirty="0"/>
          </a:p>
        </p:txBody>
      </p:sp>
      <p:sp>
        <p:nvSpPr>
          <p:cNvPr id="19" name="Text 17"/>
          <p:cNvSpPr/>
          <p:nvPr/>
        </p:nvSpPr>
        <p:spPr>
          <a:xfrm>
            <a:off x="8229600" y="4197096"/>
            <a:ext cx="3322015" cy="512064"/>
          </a:xfrm>
          <a:prstGeom prst="rect">
            <a:avLst/>
          </a:prstGeom>
          <a:noFill/>
          <a:ln/>
        </p:spPr>
        <p:txBody>
          <a:bodyPr wrap="square" lIns="0" tIns="0" rIns="0" bIns="0" rtlCol="0" anchor="ctr"/>
          <a:lstStyle/>
          <a:p>
            <a:pPr indent="0" marL="0">
              <a:buNone/>
            </a:pPr>
            <a:r>
              <a:rPr lang="en-US" sz="1400" b="1" dirty="0">
                <a:solidFill>
                  <a:srgbClr val="0A5560"/>
                </a:solidFill>
                <a:latin typeface="Calibri" pitchFamily="34" charset="0"/>
                <a:ea typeface="Calibri" pitchFamily="34" charset="-122"/>
                <a:cs typeface="Calibri" pitchFamily="34" charset="-120"/>
              </a:rPr>
              <a:t>Generated from what you already entered</a:t>
            </a:r>
            <a:endParaRPr lang="en-US" sz="1400" dirty="0"/>
          </a:p>
        </p:txBody>
      </p:sp>
      <p:sp>
        <p:nvSpPr>
          <p:cNvPr id="20" name="Shape 18"/>
          <p:cNvSpPr/>
          <p:nvPr/>
        </p:nvSpPr>
        <p:spPr>
          <a:xfrm>
            <a:off x="502920" y="4837176"/>
            <a:ext cx="11185855" cy="658368"/>
          </a:xfrm>
          <a:prstGeom prst="roundRect">
            <a:avLst>
              <a:gd name="adj" fmla="val 8333"/>
            </a:avLst>
          </a:prstGeom>
          <a:solidFill>
            <a:srgbClr val="F7FAFB"/>
          </a:solidFill>
          <a:ln w="12700">
            <a:solidFill>
              <a:srgbClr val="F7FAFB"/>
            </a:solidFill>
            <a:prstDash val="solid"/>
          </a:ln>
        </p:spPr>
      </p:sp>
      <p:sp>
        <p:nvSpPr>
          <p:cNvPr id="21" name="Text 19"/>
          <p:cNvSpPr/>
          <p:nvPr/>
        </p:nvSpPr>
        <p:spPr>
          <a:xfrm>
            <a:off x="640080" y="4910328"/>
            <a:ext cx="3474720" cy="512064"/>
          </a:xfrm>
          <a:prstGeom prst="rect">
            <a:avLst/>
          </a:prstGeom>
          <a:noFill/>
          <a:ln/>
        </p:spPr>
        <p:txBody>
          <a:bodyPr wrap="square" lIns="0" tIns="0" rIns="0" bIns="0" rtlCol="0" anchor="ctr"/>
          <a:lstStyle/>
          <a:p>
            <a:pPr indent="0" marL="0">
              <a:buNone/>
            </a:pPr>
            <a:r>
              <a:rPr lang="en-US" sz="1500" b="1" dirty="0">
                <a:solidFill>
                  <a:srgbClr val="17272B"/>
                </a:solidFill>
                <a:latin typeface="Calibri" pitchFamily="34" charset="0"/>
                <a:ea typeface="Calibri" pitchFamily="34" charset="-122"/>
                <a:cs typeface="Calibri" pitchFamily="34" charset="-120"/>
              </a:rPr>
              <a:t>Sheet music parts</a:t>
            </a:r>
            <a:endParaRPr lang="en-US" sz="1500" dirty="0"/>
          </a:p>
        </p:txBody>
      </p:sp>
      <p:sp>
        <p:nvSpPr>
          <p:cNvPr id="22" name="Text 20"/>
          <p:cNvSpPr/>
          <p:nvPr/>
        </p:nvSpPr>
        <p:spPr>
          <a:xfrm>
            <a:off x="4297680" y="4910328"/>
            <a:ext cx="3749040" cy="512064"/>
          </a:xfrm>
          <a:prstGeom prst="rect">
            <a:avLst/>
          </a:prstGeom>
          <a:noFill/>
          <a:ln/>
        </p:spPr>
        <p:txBody>
          <a:bodyPr wrap="square" lIns="0" tIns="0" rIns="0" bIns="0" rtlCol="0" anchor="ctr"/>
          <a:lstStyle/>
          <a:p>
            <a:pPr indent="0" marL="0">
              <a:buNone/>
            </a:pPr>
            <a:r>
              <a:rPr lang="en-US" sz="1400" dirty="0">
                <a:solidFill>
                  <a:srgbClr val="5C6E73"/>
                </a:solidFill>
                <a:latin typeface="Calibri" pitchFamily="34" charset="0"/>
                <a:ea typeface="Calibri" pitchFamily="34" charset="-122"/>
                <a:cs typeface="Calibri" pitchFamily="34" charset="-120"/>
              </a:rPr>
              <a:t>Handed out, and handed out again</a:t>
            </a:r>
            <a:endParaRPr lang="en-US" sz="1400" dirty="0"/>
          </a:p>
        </p:txBody>
      </p:sp>
      <p:sp>
        <p:nvSpPr>
          <p:cNvPr id="23" name="Text 21"/>
          <p:cNvSpPr/>
          <p:nvPr/>
        </p:nvSpPr>
        <p:spPr>
          <a:xfrm>
            <a:off x="8229600" y="4910328"/>
            <a:ext cx="3322015" cy="512064"/>
          </a:xfrm>
          <a:prstGeom prst="rect">
            <a:avLst/>
          </a:prstGeom>
          <a:noFill/>
          <a:ln/>
        </p:spPr>
        <p:txBody>
          <a:bodyPr wrap="square" lIns="0" tIns="0" rIns="0" bIns="0" rtlCol="0" anchor="ctr"/>
          <a:lstStyle/>
          <a:p>
            <a:pPr indent="0" marL="0">
              <a:buNone/>
            </a:pPr>
            <a:r>
              <a:rPr lang="en-US" sz="1400" b="1" dirty="0">
                <a:solidFill>
                  <a:srgbClr val="0A5560"/>
                </a:solidFill>
                <a:latin typeface="Calibri" pitchFamily="34" charset="0"/>
                <a:ea typeface="Calibri" pitchFamily="34" charset="-122"/>
                <a:cs typeface="Calibri" pitchFamily="34" charset="-120"/>
              </a:rPr>
              <a:t>Linked to the piece; a student finds their own</a:t>
            </a:r>
            <a:endParaRPr lang="en-US" sz="1400" dirty="0"/>
          </a:p>
        </p:txBody>
      </p:sp>
      <p:sp>
        <p:nvSpPr>
          <p:cNvPr id="24" name="Shape 22"/>
          <p:cNvSpPr/>
          <p:nvPr/>
        </p:nvSpPr>
        <p:spPr>
          <a:xfrm>
            <a:off x="640080" y="5669280"/>
            <a:ext cx="10911535" cy="777240"/>
          </a:xfrm>
          <a:prstGeom prst="roundRect">
            <a:avLst>
              <a:gd name="adj" fmla="val 11765"/>
            </a:avLst>
          </a:prstGeom>
          <a:solidFill>
            <a:srgbClr val="0A5560"/>
          </a:solidFill>
          <a:ln w="12700">
            <a:solidFill>
              <a:srgbClr val="0A5560"/>
            </a:solidFill>
            <a:prstDash val="solid"/>
          </a:ln>
        </p:spPr>
      </p:sp>
      <p:sp>
        <p:nvSpPr>
          <p:cNvPr id="25" name="Text 23"/>
          <p:cNvSpPr/>
          <p:nvPr/>
        </p:nvSpPr>
        <p:spPr>
          <a:xfrm>
            <a:off x="960120" y="5669280"/>
            <a:ext cx="10271455"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Every fact gets entered once, by the person who knows it — and stops being re-asked.</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FOUR SMALL THINGS</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What I’m asking of you this week</a:t>
            </a:r>
            <a:endParaRPr lang="en-US" sz="3600" dirty="0"/>
          </a:p>
        </p:txBody>
      </p:sp>
      <p:sp>
        <p:nvSpPr>
          <p:cNvPr id="4" name="Shape 2"/>
          <p:cNvSpPr/>
          <p:nvPr/>
        </p:nvSpPr>
        <p:spPr>
          <a:xfrm>
            <a:off x="640080" y="1837944"/>
            <a:ext cx="512064" cy="512064"/>
          </a:xfrm>
          <a:prstGeom prst="ellipse">
            <a:avLst/>
          </a:prstGeom>
          <a:solidFill>
            <a:srgbClr val="0D7E8E"/>
          </a:solidFill>
          <a:ln/>
        </p:spPr>
      </p:sp>
      <p:sp>
        <p:nvSpPr>
          <p:cNvPr id="5" name="Text 3"/>
          <p:cNvSpPr/>
          <p:nvPr/>
        </p:nvSpPr>
        <p:spPr>
          <a:xfrm>
            <a:off x="640080" y="1837944"/>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371600" y="1783080"/>
            <a:ext cx="3840480" cy="411480"/>
          </a:xfrm>
          <a:prstGeom prst="rect">
            <a:avLst/>
          </a:prstGeom>
          <a:noFill/>
          <a:ln/>
        </p:spPr>
        <p:txBody>
          <a:bodyPr wrap="square" lIns="0" tIns="0" rIns="0" bIns="0" rtlCol="0" anchor="ctr"/>
          <a:lstStyle/>
          <a:p>
            <a:pPr indent="0" marL="0">
              <a:buNone/>
            </a:pPr>
            <a:r>
              <a:rPr lang="en-US" sz="2000" b="1" dirty="0">
                <a:solidFill>
                  <a:srgbClr val="0A5560"/>
                </a:solidFill>
                <a:latin typeface="Calibri" pitchFamily="34" charset="0"/>
                <a:ea typeface="Calibri" pitchFamily="34" charset="-122"/>
                <a:cs typeface="Calibri" pitchFamily="34" charset="-120"/>
              </a:rPr>
              <a:t>Sign in and look</a:t>
            </a:r>
            <a:endParaRPr lang="en-US" sz="2000" dirty="0"/>
          </a:p>
        </p:txBody>
      </p:sp>
      <p:sp>
        <p:nvSpPr>
          <p:cNvPr id="7" name="Text 5"/>
          <p:cNvSpPr/>
          <p:nvPr/>
        </p:nvSpPr>
        <p:spPr>
          <a:xfrm>
            <a:off x="5303520" y="1801368"/>
            <a:ext cx="6248095" cy="77724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If it says your account isn’t authorized, that’s my job, not yours — tell me and it’s fixed in a minute.</a:t>
            </a:r>
            <a:endParaRPr lang="en-US" sz="1450" dirty="0"/>
          </a:p>
        </p:txBody>
      </p:sp>
      <p:sp>
        <p:nvSpPr>
          <p:cNvPr id="8" name="Shape 6"/>
          <p:cNvSpPr/>
          <p:nvPr/>
        </p:nvSpPr>
        <p:spPr>
          <a:xfrm>
            <a:off x="640080" y="2862072"/>
            <a:ext cx="512064" cy="512064"/>
          </a:xfrm>
          <a:prstGeom prst="ellipse">
            <a:avLst/>
          </a:prstGeom>
          <a:solidFill>
            <a:srgbClr val="0D7E8E"/>
          </a:solidFill>
          <a:ln/>
        </p:spPr>
      </p:sp>
      <p:sp>
        <p:nvSpPr>
          <p:cNvPr id="9" name="Text 7"/>
          <p:cNvSpPr/>
          <p:nvPr/>
        </p:nvSpPr>
        <p:spPr>
          <a:xfrm>
            <a:off x="640080" y="2862072"/>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0" name="Text 8"/>
          <p:cNvSpPr/>
          <p:nvPr/>
        </p:nvSpPr>
        <p:spPr>
          <a:xfrm>
            <a:off x="1371600" y="2807208"/>
            <a:ext cx="3840480" cy="411480"/>
          </a:xfrm>
          <a:prstGeom prst="rect">
            <a:avLst/>
          </a:prstGeom>
          <a:noFill/>
          <a:ln/>
        </p:spPr>
        <p:txBody>
          <a:bodyPr wrap="square" lIns="0" tIns="0" rIns="0" bIns="0" rtlCol="0" anchor="ctr"/>
          <a:lstStyle/>
          <a:p>
            <a:pPr indent="0" marL="0">
              <a:buNone/>
            </a:pPr>
            <a:r>
              <a:rPr lang="en-US" sz="2000" b="1" dirty="0">
                <a:solidFill>
                  <a:srgbClr val="0A5560"/>
                </a:solidFill>
                <a:latin typeface="Calibri" pitchFamily="34" charset="0"/>
                <a:ea typeface="Calibri" pitchFamily="34" charset="-122"/>
                <a:cs typeface="Calibri" pitchFamily="34" charset="-120"/>
              </a:rPr>
              <a:t>Take roll in the app once</a:t>
            </a:r>
            <a:endParaRPr lang="en-US" sz="2000" dirty="0"/>
          </a:p>
        </p:txBody>
      </p:sp>
      <p:sp>
        <p:nvSpPr>
          <p:cNvPr id="11" name="Text 9"/>
          <p:cNvSpPr/>
          <p:nvPr/>
        </p:nvSpPr>
        <p:spPr>
          <a:xfrm>
            <a:off x="5303520" y="2825496"/>
            <a:ext cx="6248095" cy="77724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Once. If it doesn’t work the way you need, I want to hear it from the first attempt — not the fortieth.</a:t>
            </a:r>
            <a:endParaRPr lang="en-US" sz="1450" dirty="0"/>
          </a:p>
        </p:txBody>
      </p:sp>
      <p:sp>
        <p:nvSpPr>
          <p:cNvPr id="12" name="Shape 10"/>
          <p:cNvSpPr/>
          <p:nvPr/>
        </p:nvSpPr>
        <p:spPr>
          <a:xfrm>
            <a:off x="640080" y="3886200"/>
            <a:ext cx="512064" cy="512064"/>
          </a:xfrm>
          <a:prstGeom prst="ellipse">
            <a:avLst/>
          </a:prstGeom>
          <a:solidFill>
            <a:srgbClr val="0D7E8E"/>
          </a:solidFill>
          <a:ln/>
        </p:spPr>
      </p:sp>
      <p:sp>
        <p:nvSpPr>
          <p:cNvPr id="13" name="Text 11"/>
          <p:cNvSpPr/>
          <p:nvPr/>
        </p:nvSpPr>
        <p:spPr>
          <a:xfrm>
            <a:off x="640080" y="3886200"/>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4" name="Text 12"/>
          <p:cNvSpPr/>
          <p:nvPr/>
        </p:nvSpPr>
        <p:spPr>
          <a:xfrm>
            <a:off x="1371600" y="3831336"/>
            <a:ext cx="3840480" cy="411480"/>
          </a:xfrm>
          <a:prstGeom prst="rect">
            <a:avLst/>
          </a:prstGeom>
          <a:noFill/>
          <a:ln/>
        </p:spPr>
        <p:txBody>
          <a:bodyPr wrap="square" lIns="0" tIns="0" rIns="0" bIns="0" rtlCol="0" anchor="ctr"/>
          <a:lstStyle/>
          <a:p>
            <a:pPr indent="0" marL="0">
              <a:buNone/>
            </a:pPr>
            <a:r>
              <a:rPr lang="en-US" sz="2000" b="1" dirty="0">
                <a:solidFill>
                  <a:srgbClr val="0A5560"/>
                </a:solidFill>
                <a:latin typeface="Calibri" pitchFamily="34" charset="0"/>
                <a:ea typeface="Calibri" pitchFamily="34" charset="-122"/>
                <a:cs typeface="Calibri" pitchFamily="34" charset="-120"/>
              </a:rPr>
              <a:t>Check your own month</a:t>
            </a:r>
            <a:endParaRPr lang="en-US" sz="2000" dirty="0"/>
          </a:p>
        </p:txBody>
      </p:sp>
      <p:sp>
        <p:nvSpPr>
          <p:cNvPr id="15" name="Text 13"/>
          <p:cNvSpPr/>
          <p:nvPr/>
        </p:nvSpPr>
        <p:spPr>
          <a:xfrm>
            <a:off x="5303520" y="3849624"/>
            <a:ext cx="6248095" cy="77724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You know your schedule better than the calendar does. Tell me what’s wrong on it.</a:t>
            </a:r>
            <a:endParaRPr lang="en-US" sz="1450" dirty="0"/>
          </a:p>
        </p:txBody>
      </p:sp>
      <p:sp>
        <p:nvSpPr>
          <p:cNvPr id="16" name="Shape 14"/>
          <p:cNvSpPr/>
          <p:nvPr/>
        </p:nvSpPr>
        <p:spPr>
          <a:xfrm>
            <a:off x="640080" y="4910328"/>
            <a:ext cx="512064" cy="512064"/>
          </a:xfrm>
          <a:prstGeom prst="ellipse">
            <a:avLst/>
          </a:prstGeom>
          <a:solidFill>
            <a:srgbClr val="0D7E8E"/>
          </a:solidFill>
          <a:ln/>
        </p:spPr>
      </p:sp>
      <p:sp>
        <p:nvSpPr>
          <p:cNvPr id="17" name="Text 15"/>
          <p:cNvSpPr/>
          <p:nvPr/>
        </p:nvSpPr>
        <p:spPr>
          <a:xfrm>
            <a:off x="640080" y="4910328"/>
            <a:ext cx="512064" cy="512064"/>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1371600" y="4855464"/>
            <a:ext cx="3840480" cy="411480"/>
          </a:xfrm>
          <a:prstGeom prst="rect">
            <a:avLst/>
          </a:prstGeom>
          <a:noFill/>
          <a:ln/>
        </p:spPr>
        <p:txBody>
          <a:bodyPr wrap="square" lIns="0" tIns="0" rIns="0" bIns="0" rtlCol="0" anchor="ctr"/>
          <a:lstStyle/>
          <a:p>
            <a:pPr indent="0" marL="0">
              <a:buNone/>
            </a:pPr>
            <a:r>
              <a:rPr lang="en-US" sz="2000" b="1" dirty="0">
                <a:solidFill>
                  <a:srgbClr val="0A5560"/>
                </a:solidFill>
                <a:latin typeface="Calibri" pitchFamily="34" charset="0"/>
                <a:ea typeface="Calibri" pitchFamily="34" charset="-122"/>
                <a:cs typeface="Calibri" pitchFamily="34" charset="-120"/>
              </a:rPr>
              <a:t>Name one person</a:t>
            </a:r>
            <a:endParaRPr lang="en-US" sz="2000" dirty="0"/>
          </a:p>
        </p:txBody>
      </p:sp>
      <p:sp>
        <p:nvSpPr>
          <p:cNvPr id="19" name="Text 17"/>
          <p:cNvSpPr/>
          <p:nvPr/>
        </p:nvSpPr>
        <p:spPr>
          <a:xfrm>
            <a:off x="5303520" y="4873752"/>
            <a:ext cx="6248095" cy="77724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Anyone who should be able to take roll for you — a section leader, an aide.</a:t>
            </a:r>
            <a:endParaRPr lang="en-US" sz="1450" dirty="0"/>
          </a:p>
        </p:txBody>
      </p:sp>
      <p:sp>
        <p:nvSpPr>
          <p:cNvPr id="20" name="Text 18"/>
          <p:cNvSpPr/>
          <p:nvPr/>
        </p:nvSpPr>
        <p:spPr>
          <a:xfrm>
            <a:off x="640080" y="5897880"/>
            <a:ext cx="10911535" cy="411480"/>
          </a:xfrm>
          <a:prstGeom prst="rect">
            <a:avLst/>
          </a:prstGeom>
          <a:noFill/>
          <a:ln/>
        </p:spPr>
        <p:txBody>
          <a:bodyPr wrap="square" lIns="0" tIns="0" rIns="0" bIns="0" rtlCol="0" anchor="ctr"/>
          <a:lstStyle/>
          <a:p>
            <a:pPr indent="0" marL="0">
              <a:buNone/>
            </a:pPr>
            <a:r>
              <a:rPr lang="en-US" sz="1700" i="1" dirty="0">
                <a:solidFill>
                  <a:srgbClr val="17272B"/>
                </a:solidFill>
                <a:latin typeface="Calibri" pitchFamily="34" charset="0"/>
                <a:ea typeface="Calibri" pitchFamily="34" charset="-122"/>
                <a:cs typeface="Calibri" pitchFamily="34" charset="-120"/>
              </a:rPr>
              <a:t>I’ll check back with each of you on ______________.</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0D7E8E"/>
                </a:solidFill>
                <a:latin typeface="Calibri" pitchFamily="34" charset="0"/>
                <a:ea typeface="Calibri" pitchFamily="34" charset="-122"/>
                <a:cs typeface="Calibri" pitchFamily="34" charset="-120"/>
              </a:rPr>
              <a:t>THREE PLACES, IN ORDER</a:t>
            </a:r>
            <a:endParaRPr lang="en-US" sz="1200" dirty="0"/>
          </a:p>
        </p:txBody>
      </p:sp>
      <p:sp>
        <p:nvSpPr>
          <p:cNvPr id="3" name="Text 1"/>
          <p:cNvSpPr/>
          <p:nvPr/>
        </p:nvSpPr>
        <p:spPr>
          <a:xfrm>
            <a:off x="640080" y="658368"/>
            <a:ext cx="10911535" cy="685800"/>
          </a:xfrm>
          <a:prstGeom prst="rect">
            <a:avLst/>
          </a:prstGeom>
          <a:noFill/>
          <a:ln/>
        </p:spPr>
        <p:txBody>
          <a:bodyPr wrap="square" lIns="0" tIns="0" rIns="0" bIns="0" rtlCol="0" anchor="t"/>
          <a:lstStyle/>
          <a:p>
            <a:pPr indent="0" marL="0">
              <a:buNone/>
            </a:pPr>
            <a:r>
              <a:rPr lang="en-US" sz="3600" b="1" dirty="0">
                <a:solidFill>
                  <a:srgbClr val="17272B"/>
                </a:solidFill>
                <a:latin typeface="Cambria" pitchFamily="34" charset="0"/>
                <a:ea typeface="Cambria" pitchFamily="34" charset="-122"/>
                <a:cs typeface="Cambria" pitchFamily="34" charset="-120"/>
              </a:rPr>
              <a:t>When you’re stuck</a:t>
            </a:r>
            <a:endParaRPr lang="en-US" sz="3600" dirty="0"/>
          </a:p>
        </p:txBody>
      </p:sp>
      <p:sp>
        <p:nvSpPr>
          <p:cNvPr id="4" name="Shape 2"/>
          <p:cNvSpPr/>
          <p:nvPr/>
        </p:nvSpPr>
        <p:spPr>
          <a:xfrm>
            <a:off x="640080" y="1828800"/>
            <a:ext cx="3520440" cy="3246120"/>
          </a:xfrm>
          <a:prstGeom prst="roundRect">
            <a:avLst>
              <a:gd name="adj" fmla="val 2535"/>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5" name="Shape 3"/>
          <p:cNvSpPr/>
          <p:nvPr/>
        </p:nvSpPr>
        <p:spPr>
          <a:xfrm>
            <a:off x="932688" y="2084832"/>
            <a:ext cx="457200" cy="457200"/>
          </a:xfrm>
          <a:prstGeom prst="ellipse">
            <a:avLst/>
          </a:prstGeom>
          <a:solidFill>
            <a:srgbClr val="0D7E8E"/>
          </a:solidFill>
          <a:ln/>
        </p:spPr>
      </p:sp>
      <p:sp>
        <p:nvSpPr>
          <p:cNvPr id="6" name="Text 4"/>
          <p:cNvSpPr/>
          <p:nvPr/>
        </p:nvSpPr>
        <p:spPr>
          <a:xfrm>
            <a:off x="932688"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932688" y="2697480"/>
            <a:ext cx="2935224" cy="411480"/>
          </a:xfrm>
          <a:prstGeom prst="rect">
            <a:avLst/>
          </a:prstGeom>
          <a:noFill/>
          <a:ln/>
        </p:spPr>
        <p:txBody>
          <a:bodyPr wrap="square" lIns="0" tIns="0" rIns="0" bIns="0" rtlCol="0" anchor="ctr"/>
          <a:lstStyle/>
          <a:p>
            <a:pPr indent="0" marL="0">
              <a:buNone/>
            </a:pPr>
            <a:r>
              <a:rPr lang="en-US" sz="2100" b="1" dirty="0">
                <a:solidFill>
                  <a:srgbClr val="0A5560"/>
                </a:solidFill>
                <a:latin typeface="Cambria" pitchFamily="34" charset="0"/>
                <a:ea typeface="Cambria" pitchFamily="34" charset="-122"/>
                <a:cs typeface="Cambria" pitchFamily="34" charset="-120"/>
              </a:rPr>
              <a:t>Start Here</a:t>
            </a:r>
            <a:endParaRPr lang="en-US" sz="2100" dirty="0"/>
          </a:p>
        </p:txBody>
      </p:sp>
      <p:sp>
        <p:nvSpPr>
          <p:cNvPr id="8" name="Text 6"/>
          <p:cNvSpPr/>
          <p:nvPr/>
        </p:nvSpPr>
        <p:spPr>
          <a:xfrm>
            <a:off x="932688" y="3200400"/>
            <a:ext cx="2935224" cy="173736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In the app menu. Real questions grouped by students, parents and directors — every answer links straight to the screen you need. It prints, if you want it on paper.</a:t>
            </a:r>
            <a:endParaRPr lang="en-US" sz="1450" dirty="0"/>
          </a:p>
        </p:txBody>
      </p:sp>
      <p:sp>
        <p:nvSpPr>
          <p:cNvPr id="9" name="Shape 7"/>
          <p:cNvSpPr/>
          <p:nvPr/>
        </p:nvSpPr>
        <p:spPr>
          <a:xfrm>
            <a:off x="4544568" y="1828800"/>
            <a:ext cx="3520440" cy="3246120"/>
          </a:xfrm>
          <a:prstGeom prst="roundRect">
            <a:avLst>
              <a:gd name="adj" fmla="val 2535"/>
            </a:avLst>
          </a:prstGeom>
          <a:solidFill>
            <a:srgbClr val="F1F6F7"/>
          </a:solidFill>
          <a:ln w="12700">
            <a:solidFill>
              <a:srgbClr val="D8E4E6"/>
            </a:solidFill>
            <a:prstDash val="solid"/>
          </a:ln>
          <a:effectLst>
            <a:outerShdw sx="100000" sy="100000" kx="0" ky="0" algn="bl" rotWithShape="0" blurRad="127000" dist="25400" dir="5400000">
              <a:srgbClr val="9FB3B7">
                <a:alpha val="28000"/>
              </a:srgbClr>
            </a:outerShdw>
          </a:effectLst>
        </p:spPr>
      </p:sp>
      <p:sp>
        <p:nvSpPr>
          <p:cNvPr id="10" name="Shape 8"/>
          <p:cNvSpPr/>
          <p:nvPr/>
        </p:nvSpPr>
        <p:spPr>
          <a:xfrm>
            <a:off x="4837176" y="2084832"/>
            <a:ext cx="457200" cy="457200"/>
          </a:xfrm>
          <a:prstGeom prst="ellipse">
            <a:avLst/>
          </a:prstGeom>
          <a:solidFill>
            <a:srgbClr val="0D7E8E"/>
          </a:solidFill>
          <a:ln/>
        </p:spPr>
      </p:sp>
      <p:sp>
        <p:nvSpPr>
          <p:cNvPr id="11" name="Text 9"/>
          <p:cNvSpPr/>
          <p:nvPr/>
        </p:nvSpPr>
        <p:spPr>
          <a:xfrm>
            <a:off x="4837176" y="208483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p:nvPr/>
        </p:nvSpPr>
        <p:spPr>
          <a:xfrm>
            <a:off x="4837176" y="2697480"/>
            <a:ext cx="2935224" cy="411480"/>
          </a:xfrm>
          <a:prstGeom prst="rect">
            <a:avLst/>
          </a:prstGeom>
          <a:noFill/>
          <a:ln/>
        </p:spPr>
        <p:txBody>
          <a:bodyPr wrap="square" lIns="0" tIns="0" rIns="0" bIns="0" rtlCol="0" anchor="ctr"/>
          <a:lstStyle/>
          <a:p>
            <a:pPr indent="0" marL="0">
              <a:buNone/>
            </a:pPr>
            <a:r>
              <a:rPr lang="en-US" sz="2100" b="1" dirty="0">
                <a:solidFill>
                  <a:srgbClr val="0A5560"/>
                </a:solidFill>
                <a:latin typeface="Cambria" pitchFamily="34" charset="0"/>
                <a:ea typeface="Cambria" pitchFamily="34" charset="-122"/>
                <a:cs typeface="Cambria" pitchFamily="34" charset="-120"/>
              </a:rPr>
              <a:t>The glossary</a:t>
            </a:r>
            <a:endParaRPr lang="en-US" sz="2100" dirty="0"/>
          </a:p>
        </p:txBody>
      </p:sp>
      <p:sp>
        <p:nvSpPr>
          <p:cNvPr id="13" name="Text 11"/>
          <p:cNvSpPr/>
          <p:nvPr/>
        </p:nvSpPr>
        <p:spPr>
          <a:xfrm>
            <a:off x="4837176" y="3200400"/>
            <a:ext cx="2935224" cy="1737360"/>
          </a:xfrm>
          <a:prstGeom prst="rect">
            <a:avLst/>
          </a:prstGeom>
          <a:noFill/>
          <a:ln/>
        </p:spPr>
        <p:txBody>
          <a:bodyPr wrap="square" lIns="0" tIns="0" rIns="0" bIns="0" rtlCol="0" anchor="ctr"/>
          <a:lstStyle/>
          <a:p>
            <a:pPr indent="0" marL="0">
              <a:buNone/>
            </a:pPr>
            <a:r>
              <a:rPr lang="en-US" sz="1450" dirty="0">
                <a:solidFill>
                  <a:srgbClr val="5C6E73"/>
                </a:solidFill>
                <a:latin typeface="Calibri" pitchFamily="34" charset="0"/>
                <a:ea typeface="Calibri" pitchFamily="34" charset="-122"/>
                <a:cs typeface="Calibri" pitchFamily="34" charset="-120"/>
              </a:rPr>
              <a:t>At the bottom of that page. Call time, pull-out, sectional, principal, downbeat. Written for ninth graders and parents — useful for anybody.</a:t>
            </a:r>
            <a:endParaRPr lang="en-US" sz="1450" dirty="0"/>
          </a:p>
        </p:txBody>
      </p:sp>
      <p:sp>
        <p:nvSpPr>
          <p:cNvPr id="14" name="Shape 12"/>
          <p:cNvSpPr/>
          <p:nvPr/>
        </p:nvSpPr>
        <p:spPr>
          <a:xfrm>
            <a:off x="8449056" y="1828800"/>
            <a:ext cx="3520440" cy="3246120"/>
          </a:xfrm>
          <a:prstGeom prst="roundRect">
            <a:avLst>
              <a:gd name="adj" fmla="val 2535"/>
            </a:avLst>
          </a:prstGeom>
          <a:solidFill>
            <a:srgbClr val="0A5560"/>
          </a:solidFill>
          <a:ln w="12700">
            <a:solidFill>
              <a:srgbClr val="0A5560"/>
            </a:solidFill>
            <a:prstDash val="solid"/>
          </a:ln>
          <a:effectLst>
            <a:outerShdw sx="100000" sy="100000" kx="0" ky="0" algn="bl" rotWithShape="0" blurRad="127000" dist="25400" dir="5400000">
              <a:srgbClr val="9FB3B7">
                <a:alpha val="28000"/>
              </a:srgbClr>
            </a:outerShdw>
          </a:effectLst>
        </p:spPr>
      </p:sp>
      <p:sp>
        <p:nvSpPr>
          <p:cNvPr id="15" name="Shape 13"/>
          <p:cNvSpPr/>
          <p:nvPr/>
        </p:nvSpPr>
        <p:spPr>
          <a:xfrm>
            <a:off x="8741664" y="2084832"/>
            <a:ext cx="457200" cy="457200"/>
          </a:xfrm>
          <a:prstGeom prst="ellipse">
            <a:avLst/>
          </a:prstGeom>
          <a:solidFill>
            <a:srgbClr val="FFFFFF"/>
          </a:solidFill>
          <a:ln/>
        </p:spPr>
      </p:sp>
      <p:sp>
        <p:nvSpPr>
          <p:cNvPr id="16" name="Text 14"/>
          <p:cNvSpPr/>
          <p:nvPr/>
        </p:nvSpPr>
        <p:spPr>
          <a:xfrm>
            <a:off x="8741664" y="2084832"/>
            <a:ext cx="457200" cy="457200"/>
          </a:xfrm>
          <a:prstGeom prst="rect">
            <a:avLst/>
          </a:prstGeom>
          <a:noFill/>
          <a:ln/>
        </p:spPr>
        <p:txBody>
          <a:bodyPr wrap="square" lIns="0" tIns="0" rIns="0" bIns="0" rtlCol="0" anchor="ctr"/>
          <a:lstStyle/>
          <a:p>
            <a:pPr algn="ctr" indent="0" marL="0">
              <a:buNone/>
            </a:pPr>
            <a:r>
              <a:rPr lang="en-US" sz="1700" b="1" dirty="0">
                <a:solidFill>
                  <a:srgbClr val="0A5560"/>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8741664" y="2697480"/>
            <a:ext cx="2935224"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Ask me</a:t>
            </a:r>
            <a:endParaRPr lang="en-US" sz="2100" dirty="0"/>
          </a:p>
        </p:txBody>
      </p:sp>
      <p:sp>
        <p:nvSpPr>
          <p:cNvPr id="18" name="Text 16"/>
          <p:cNvSpPr/>
          <p:nvPr/>
        </p:nvSpPr>
        <p:spPr>
          <a:xfrm>
            <a:off x="8741664" y="3200400"/>
            <a:ext cx="2935224" cy="1737360"/>
          </a:xfrm>
          <a:prstGeom prst="rect">
            <a:avLst/>
          </a:prstGeom>
          <a:noFill/>
          <a:ln/>
        </p:spPr>
        <p:txBody>
          <a:bodyPr wrap="square" lIns="0" tIns="0" rIns="0" bIns="0" rtlCol="0" anchor="ctr"/>
          <a:lstStyle/>
          <a:p>
            <a:pPr indent="0" marL="0">
              <a:buNone/>
            </a:pPr>
            <a:r>
              <a:rPr lang="en-US" sz="1450" dirty="0">
                <a:solidFill>
                  <a:srgbClr val="CFE6EA"/>
                </a:solidFill>
                <a:latin typeface="Calibri" pitchFamily="34" charset="0"/>
                <a:ea typeface="Calibri" pitchFamily="34" charset="-122"/>
                <a:cs typeface="Calibri" pitchFamily="34" charset="-120"/>
              </a:rPr>
              <a:t>I’d much rather fix a confusing screen than have you work around it.</a:t>
            </a:r>
            <a:endParaRPr lang="en-US" sz="1450" dirty="0"/>
          </a:p>
        </p:txBody>
      </p:sp>
      <p:sp>
        <p:nvSpPr>
          <p:cNvPr id="19" name="Text 17"/>
          <p:cNvSpPr/>
          <p:nvPr/>
        </p:nvSpPr>
        <p:spPr>
          <a:xfrm>
            <a:off x="640080" y="5440680"/>
            <a:ext cx="10911535" cy="457200"/>
          </a:xfrm>
          <a:prstGeom prst="rect">
            <a:avLst/>
          </a:prstGeom>
          <a:noFill/>
          <a:ln/>
        </p:spPr>
        <p:txBody>
          <a:bodyPr wrap="square" lIns="0" tIns="0" rIns="0" bIns="0" rtlCol="0" anchor="ctr"/>
          <a:lstStyle/>
          <a:p>
            <a:pPr indent="0" marL="0">
              <a:buNone/>
            </a:pPr>
            <a:r>
              <a:rPr lang="en-US" sz="1600" i="1" dirty="0">
                <a:solidFill>
                  <a:srgbClr val="0A5560"/>
                </a:solidFill>
                <a:latin typeface="Calibri" pitchFamily="34" charset="0"/>
                <a:ea typeface="Calibri" pitchFamily="34" charset="-122"/>
                <a:cs typeface="Calibri" pitchFamily="34" charset="-120"/>
              </a:rPr>
              <a:t>Nothing here is finished, and nothing here is precious. Every screen I showed you came from somebody saying “this doesn’t work the way I work.”</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272E"/>
        </a:solidFill>
      </p:bgPr>
    </p:bg>
    <p:spTree>
      <p:nvGrpSpPr>
        <p:cNvPr id="1" name=""/>
        <p:cNvGrpSpPr/>
        <p:nvPr/>
      </p:nvGrpSpPr>
      <p:grpSpPr>
        <a:xfrm>
          <a:off x="0" y="0"/>
          <a:ext cx="0" cy="0"/>
          <a:chOff x="0" y="0"/>
          <a:chExt cx="0" cy="0"/>
        </a:xfrm>
      </p:grpSpPr>
      <p:sp>
        <p:nvSpPr>
          <p:cNvPr id="2" name="Text 0"/>
          <p:cNvSpPr/>
          <p:nvPr/>
        </p:nvSpPr>
        <p:spPr>
          <a:xfrm>
            <a:off x="640080" y="914400"/>
            <a:ext cx="6766560" cy="1554480"/>
          </a:xfrm>
          <a:prstGeom prst="rect">
            <a:avLst/>
          </a:prstGeom>
          <a:noFill/>
          <a:ln/>
        </p:spPr>
        <p:txBody>
          <a:bodyPr wrap="square" lIns="0" tIns="0" rIns="0" bIns="0" rtlCol="0" anchor="ctr"/>
          <a:lstStyle/>
          <a:p>
            <a:pPr indent="0" marL="0">
              <a:lnSpc>
                <a:spcPts val="4800"/>
              </a:lnSpc>
              <a:buNone/>
            </a:pPr>
            <a:r>
              <a:rPr lang="en-US" sz="3800" b="1" dirty="0">
                <a:solidFill>
                  <a:srgbClr val="FFFFFF"/>
                </a:solidFill>
                <a:latin typeface="Cambria" pitchFamily="34" charset="0"/>
                <a:ea typeface="Cambria" pitchFamily="34" charset="-122"/>
                <a:cs typeface="Cambria" pitchFamily="34" charset="-120"/>
              </a:rPr>
              <a:t>What did I miss?</a:t>
            </a:r>
            <a:endParaRPr lang="en-US" sz="3800" dirty="0"/>
          </a:p>
          <a:p>
            <a:pPr indent="0" marL="0">
              <a:lnSpc>
                <a:spcPts val="4800"/>
              </a:lnSpc>
              <a:buNone/>
            </a:pPr>
            <a:r>
              <a:rPr lang="en-US" sz="3800" b="1" dirty="0">
                <a:solidFill>
                  <a:srgbClr val="FFFFFF"/>
                </a:solidFill>
                <a:latin typeface="Cambria" pitchFamily="34" charset="0"/>
                <a:ea typeface="Cambria" pitchFamily="34" charset="-122"/>
                <a:cs typeface="Cambria" pitchFamily="34" charset="-120"/>
              </a:rPr>
              <a:t>What’s going to break?</a:t>
            </a:r>
            <a:endParaRPr lang="en-US" sz="3800" dirty="0"/>
          </a:p>
        </p:txBody>
      </p:sp>
      <p:sp>
        <p:nvSpPr>
          <p:cNvPr id="3" name="Text 1"/>
          <p:cNvSpPr/>
          <p:nvPr/>
        </p:nvSpPr>
        <p:spPr>
          <a:xfrm>
            <a:off x="640080" y="2514600"/>
            <a:ext cx="6766560" cy="457200"/>
          </a:xfrm>
          <a:prstGeom prst="rect">
            <a:avLst/>
          </a:prstGeom>
          <a:noFill/>
          <a:ln/>
        </p:spPr>
        <p:txBody>
          <a:bodyPr wrap="square" lIns="0" tIns="0" rIns="0" bIns="0" rtlCol="0" anchor="ctr"/>
          <a:lstStyle/>
          <a:p>
            <a:pPr indent="0" marL="0">
              <a:buNone/>
            </a:pPr>
            <a:r>
              <a:rPr lang="en-US" sz="1700" i="1" dirty="0">
                <a:solidFill>
                  <a:srgbClr val="B8862B"/>
                </a:solidFill>
                <a:latin typeface="Calibri" pitchFamily="34" charset="0"/>
                <a:ea typeface="Calibri" pitchFamily="34" charset="-122"/>
                <a:cs typeface="Calibri" pitchFamily="34" charset="-120"/>
              </a:rPr>
              <a:t>Take the time. The first question is usually the most useful one.</a:t>
            </a:r>
            <a:endParaRPr lang="en-US" sz="1700" dirty="0"/>
          </a:p>
        </p:txBody>
      </p:sp>
      <p:sp>
        <p:nvSpPr>
          <p:cNvPr id="4" name="Shape 2"/>
          <p:cNvSpPr/>
          <p:nvPr/>
        </p:nvSpPr>
        <p:spPr>
          <a:xfrm>
            <a:off x="640080" y="3200400"/>
            <a:ext cx="6766560" cy="2834640"/>
          </a:xfrm>
          <a:prstGeom prst="roundRect">
            <a:avLst>
              <a:gd name="adj" fmla="val 3226"/>
            </a:avLst>
          </a:prstGeom>
          <a:solidFill>
            <a:srgbClr val="143840"/>
          </a:solidFill>
          <a:ln w="12700">
            <a:solidFill>
              <a:srgbClr val="2C5A64"/>
            </a:solidFill>
            <a:prstDash val="solid"/>
          </a:ln>
        </p:spPr>
      </p:sp>
      <p:sp>
        <p:nvSpPr>
          <p:cNvPr id="5" name="Text 3"/>
          <p:cNvSpPr/>
          <p:nvPr/>
        </p:nvSpPr>
        <p:spPr>
          <a:xfrm>
            <a:off x="960120" y="3401568"/>
            <a:ext cx="6126480" cy="365760"/>
          </a:xfrm>
          <a:prstGeom prst="rect">
            <a:avLst/>
          </a:prstGeom>
          <a:noFill/>
          <a:ln/>
        </p:spPr>
        <p:txBody>
          <a:bodyPr wrap="square" lIns="0" tIns="0" rIns="0" bIns="0" rtlCol="0" anchor="ctr"/>
          <a:lstStyle/>
          <a:p>
            <a:pPr indent="0" marL="0">
              <a:buNone/>
            </a:pPr>
            <a:r>
              <a:rPr lang="en-US" sz="1500" b="1" spc="100" kern="0" dirty="0">
                <a:solidFill>
                  <a:srgbClr val="9FD2DA"/>
                </a:solidFill>
                <a:latin typeface="Calibri" pitchFamily="34" charset="0"/>
                <a:ea typeface="Calibri" pitchFamily="34" charset="-122"/>
                <a:cs typeface="Calibri" pitchFamily="34" charset="-120"/>
              </a:rPr>
              <a:t>What I am NOT claiming today</a:t>
            </a:r>
            <a:endParaRPr lang="en-US" sz="1500" dirty="0"/>
          </a:p>
        </p:txBody>
      </p:sp>
      <p:sp>
        <p:nvSpPr>
          <p:cNvPr id="6" name="Text 4"/>
          <p:cNvSpPr/>
          <p:nvPr/>
        </p:nvSpPr>
        <p:spPr>
          <a:xfrm>
            <a:off x="960120" y="3886200"/>
            <a:ext cx="6126480" cy="201168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CFE6EA"/>
                </a:solidFill>
                <a:latin typeface="Calibri" pitchFamily="34" charset="0"/>
                <a:ea typeface="Calibri" pitchFamily="34" charset="-122"/>
                <a:cs typeface="Calibri" pitchFamily="34" charset="-120"/>
              </a:rPr>
              <a:t>A measured time saving — the argument is structural, not a study</a:t>
            </a:r>
            <a:endParaRPr lang="en-US" sz="1450" dirty="0"/>
          </a:p>
          <a:p>
            <a:pPr marL="342900" indent="-342900">
              <a:spcAft>
                <a:spcPts val="1000"/>
              </a:spcAft>
              <a:buSzPct val="100000"/>
              <a:buChar char="•"/>
            </a:pPr>
            <a:r>
              <a:rPr lang="en-US" sz="1450" dirty="0">
                <a:solidFill>
                  <a:srgbClr val="CFE6EA"/>
                </a:solidFill>
                <a:latin typeface="Calibri" pitchFamily="34" charset="0"/>
                <a:ea typeface="Calibri" pitchFamily="34" charset="-122"/>
                <a:cs typeface="Calibri" pitchFamily="34" charset="-120"/>
              </a:rPr>
              <a:t>Teams / email delivery of urgent posts — the app queues it; that hop is unverified</a:t>
            </a:r>
            <a:endParaRPr lang="en-US" sz="1450" dirty="0"/>
          </a:p>
          <a:p>
            <a:pPr marL="342900" indent="-342900">
              <a:spcAft>
                <a:spcPts val="1000"/>
              </a:spcAft>
              <a:buSzPct val="100000"/>
              <a:buChar char="•"/>
            </a:pPr>
            <a:r>
              <a:rPr lang="en-US" sz="1450" dirty="0">
                <a:solidFill>
                  <a:srgbClr val="CFE6EA"/>
                </a:solidFill>
                <a:latin typeface="Calibri" pitchFamily="34" charset="0"/>
                <a:ea typeface="Calibri" pitchFamily="34" charset="-122"/>
                <a:cs typeface="Calibri" pitchFamily="34" charset="-120"/>
              </a:rPr>
              <a:t>That student names stay private — they’re public by design, and reversible</a:t>
            </a:r>
            <a:endParaRPr lang="en-US" sz="1450" dirty="0"/>
          </a:p>
          <a:p>
            <a:pPr marL="342900" indent="-342900">
              <a:spcAft>
                <a:spcPts val="1000"/>
              </a:spcAft>
              <a:buSzPct val="100000"/>
              <a:buChar char="•"/>
            </a:pPr>
            <a:r>
              <a:rPr lang="en-US" sz="1450" dirty="0">
                <a:solidFill>
                  <a:srgbClr val="CFE6EA"/>
                </a:solidFill>
                <a:latin typeface="Calibri" pitchFamily="34" charset="0"/>
                <a:ea typeface="Calibri" pitchFamily="34" charset="-122"/>
                <a:cs typeface="Calibri" pitchFamily="34" charset="-120"/>
              </a:rPr>
              <a:t>That there’s a help desk behind this — there’s me</a:t>
            </a:r>
            <a:endParaRPr lang="en-US" sz="1450" dirty="0"/>
          </a:p>
        </p:txBody>
      </p:sp>
      <p:sp>
        <p:nvSpPr>
          <p:cNvPr id="7" name="Shape 5"/>
          <p:cNvSpPr/>
          <p:nvPr/>
        </p:nvSpPr>
        <p:spPr>
          <a:xfrm>
            <a:off x="7772400" y="2194560"/>
            <a:ext cx="1371600" cy="1828800"/>
          </a:xfrm>
          <a:prstGeom prst="roundRect">
            <a:avLst>
              <a:gd name="adj" fmla="val 5333"/>
            </a:avLst>
          </a:prstGeom>
          <a:solidFill>
            <a:srgbClr val="FFFFFF"/>
          </a:solidFill>
          <a:ln/>
        </p:spPr>
      </p:sp>
      <p:pic>
        <p:nvPicPr>
          <p:cNvPr id="8" name="Image 0" descr="/home/user/nwsa-music-hub/public/nwsa-logo.png">    </p:cNvPr>
          <p:cNvPicPr>
            <a:picLocks noChangeAspect="1"/>
          </p:cNvPicPr>
          <p:nvPr/>
        </p:nvPicPr>
        <p:blipFill>
          <a:blip r:embed="rId1"/>
          <a:stretch>
            <a:fillRect/>
          </a:stretch>
        </p:blipFill>
        <p:spPr>
          <a:xfrm>
            <a:off x="8092440" y="2377440"/>
            <a:ext cx="731520" cy="1463040"/>
          </a:xfrm>
          <a:prstGeom prst="rect">
            <a:avLst/>
          </a:prstGeom>
        </p:spPr>
      </p:pic>
      <p:sp>
        <p:nvSpPr>
          <p:cNvPr id="9" name="Text 6"/>
          <p:cNvSpPr/>
          <p:nvPr/>
        </p:nvSpPr>
        <p:spPr>
          <a:xfrm>
            <a:off x="9326880" y="2560320"/>
            <a:ext cx="2240280" cy="82296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NWSA Music Hub</a:t>
            </a:r>
            <a:endParaRPr lang="en-US" sz="2100" dirty="0"/>
          </a:p>
        </p:txBody>
      </p:sp>
      <p:sp>
        <p:nvSpPr>
          <p:cNvPr id="10" name="Text 7"/>
          <p:cNvSpPr/>
          <p:nvPr/>
        </p:nvSpPr>
        <p:spPr>
          <a:xfrm>
            <a:off x="9326880" y="3291840"/>
            <a:ext cx="2240280" cy="731520"/>
          </a:xfrm>
          <a:prstGeom prst="rect">
            <a:avLst/>
          </a:prstGeom>
          <a:noFill/>
          <a:ln/>
        </p:spPr>
        <p:txBody>
          <a:bodyPr wrap="square" lIns="0" tIns="0" rIns="0" bIns="0" rtlCol="0" anchor="ctr"/>
          <a:lstStyle/>
          <a:p>
            <a:pPr indent="0" marL="0">
              <a:buNone/>
            </a:pPr>
            <a:r>
              <a:rPr lang="en-US" sz="1300" dirty="0">
                <a:solidFill>
                  <a:srgbClr val="9FD2DA"/>
                </a:solidFill>
                <a:latin typeface="Calibri" pitchFamily="34" charset="0"/>
                <a:ea typeface="Calibri" pitchFamily="34" charset="-122"/>
                <a:cs typeface="Calibri" pitchFamily="34" charset="-120"/>
              </a:rPr>
              <a:t>New World School of the Arts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NWSA Music Hub — for the Dean and Directors</dc:title>
  <dc:subject>PptxGenJS Presentation</dc:subject>
  <dc:creator>NWSA Music Hub</dc:creator>
  <cp:lastModifiedBy>NWSA Music Hub</cp:lastModifiedBy>
  <cp:revision>1</cp:revision>
  <dcterms:created xsi:type="dcterms:W3CDTF">2026-07-28T17:24:47Z</dcterms:created>
  <dcterms:modified xsi:type="dcterms:W3CDTF">2026-07-28T17:24:47Z</dcterms:modified>
</cp:coreProperties>
</file>